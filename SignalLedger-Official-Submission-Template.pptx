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Google Sans Flex Medium"/>
      <p:regular r:id="rId22"/>
      <p:bold r:id="rId23"/>
    </p:embeddedFont>
    <p:embeddedFont>
      <p:font typeface="Google Sans Flex"/>
      <p:regular r:id="rId24"/>
      <p:bold r:id="rId25"/>
    </p:embeddedFont>
    <p:embeddedFont>
      <p:font typeface="Google Sans Flex SemiBold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2" Type="http://schemas.openxmlformats.org/officeDocument/2006/relationships/font" Target="fonts/GoogleSansFlexMedium-regular.fntdata"/><Relationship Id="rId23" Type="http://schemas.openxmlformats.org/officeDocument/2006/relationships/font" Target="fonts/GoogleSansFlexMedium-bold.fntdata"/><Relationship Id="rId24" Type="http://schemas.openxmlformats.org/officeDocument/2006/relationships/font" Target="fonts/GoogleSansFlex-regular.fntdata"/><Relationship Id="rId25" Type="http://schemas.openxmlformats.org/officeDocument/2006/relationships/font" Target="fonts/GoogleSansFlex-bold.fntdata"/><Relationship Id="rId26" Type="http://schemas.openxmlformats.org/officeDocument/2006/relationships/font" Target="fonts/GoogleSansFlexSemiBold-regular.fntdata"/><Relationship Id="rId27" Type="http://schemas.openxmlformats.org/officeDocument/2006/relationships/font" Target="fonts/GoogleSansFlexSemiBol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085bff3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085bff3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085bff3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085bff3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085bff3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085bff3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b085bff3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b085bff3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085bff3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085bff3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085bff3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085bff3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b085bff3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085bff3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085bff3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085bff3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085bff3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085bff3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b085bff3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085bff3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6600" y="2902694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100" b="1">
                <a:solidFill>
                  <a:srgbClr val="111827"/>
                </a:solidFill>
                <a:latin typeface="Google Sans Flex SemiBold"/>
              </a:rPr>
              <a:t>Team Details</a:t>
            </a:r>
            <a:endParaRPr sz="21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111827"/>
                </a:solidFill>
                <a:latin typeface="Google Sans Flex"/>
              </a:rPr>
              <a:t>Team name: SignalLedger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111827"/>
                </a:solidFill>
                <a:latin typeface="Google Sans Flex"/>
              </a:rPr>
              <a:t>Team leader name: [ADD NAME]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111827"/>
                </a:solidFill>
                <a:latin typeface="Google Sans Flex"/>
              </a:rPr>
              <a:t>Problem Statement: Social trading lacks durable context, and an author's visible result is often not a follower's realized result.</a:t>
            </a:r>
          </a:p>
        </p:txBody>
      </p:sp>
      <p:pic>
        <p:nvPicPr>
          <p:cNvPr id="55" name="Google Shape;55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111827"/>
                </a:solidFill>
                <a:latin typeface="Google Sans Flex SemiBold"/>
              </a:rPr>
              <a:t>Brief about the idea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310896" y="1179576"/>
            <a:ext cx="845820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0">
                <a:solidFill>
                  <a:srgbClr val="667085"/>
                </a:solidFill>
                <a:latin typeface="Google Sans Flex"/>
              </a:rPr>
              <a:t>A KOL-first context layer for trading communities.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11480" y="1737360"/>
            <a:ext cx="3931920" cy="2697480"/>
          </a:xfrm>
          <a:prstGeom prst="roundRect">
            <a:avLst/>
          </a:prstGeom>
          <a:solidFill>
            <a:srgbClr val="111827"/>
          </a:solidFill>
          <a:ln w="1016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13232" y="2057400"/>
            <a:ext cx="201168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B1C9EB"/>
                </a:solidFill>
                <a:latin typeface="Google Sans Flex"/>
              </a:rPr>
              <a:t>SIGNALLEDGER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13232" y="2487168"/>
            <a:ext cx="3063240" cy="7680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Google Sans Flex"/>
              </a:rPr>
              <a:t>Follow the people shaping the market conversation.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31520" y="3493008"/>
            <a:ext cx="306324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>
                <a:solidFill>
                  <a:srgbClr val="C4D1E5"/>
                </a:solidFill>
                <a:latin typeface="Google Sans Flex"/>
              </a:rPr>
              <a:t>Users browse public authors. SignalLedger preserves what was said, adds professional context, and makes follower impact visible.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709160" y="1737360"/>
            <a:ext cx="1874519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4855464" y="1901952"/>
            <a:ext cx="1234440" cy="274320"/>
          </a:xfrm>
          <a:prstGeom prst="roundRect">
            <a:avLst/>
          </a:prstGeom>
          <a:solidFill>
            <a:srgbClr val="EAF1FF"/>
          </a:solidFill>
          <a:ln w="10160">
            <a:solidFill>
              <a:srgbClr val="EA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892040" y="1938528"/>
            <a:ext cx="1161288" cy="1737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1">
                <a:solidFill>
                  <a:srgbClr val="2454A6"/>
                </a:solidFill>
                <a:latin typeface="Google Sans Flex"/>
              </a:rPr>
              <a:t>CLAIM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873752" y="2395728"/>
            <a:ext cx="1545336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Google Sans Flex"/>
              </a:rPr>
              <a:t>What did the author actually say?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812280" y="1737360"/>
            <a:ext cx="1874519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6958584" y="1901952"/>
            <a:ext cx="1234440" cy="274320"/>
          </a:xfrm>
          <a:prstGeom prst="roundRect">
            <a:avLst/>
          </a:prstGeom>
          <a:solidFill>
            <a:srgbClr val="E7F7F2"/>
          </a:solidFill>
          <a:ln w="10160">
            <a:solidFill>
              <a:srgbClr val="E7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995160" y="1938528"/>
            <a:ext cx="1161288" cy="1737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1">
                <a:solidFill>
                  <a:srgbClr val="0F766E"/>
                </a:solidFill>
                <a:latin typeface="Google Sans Flex"/>
              </a:rPr>
              <a:t>QUALITY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976872" y="2395728"/>
            <a:ext cx="1545336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Google Sans Flex"/>
              </a:rPr>
              <a:t>Was evidence and downside context present?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4709160" y="3246120"/>
            <a:ext cx="1874519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4855464" y="3410712"/>
            <a:ext cx="1234440" cy="274320"/>
          </a:xfrm>
          <a:prstGeom prst="roundRect">
            <a:avLst/>
          </a:prstGeom>
          <a:solidFill>
            <a:srgbClr val="FFF5D9"/>
          </a:solidFill>
          <a:ln w="10160">
            <a:solidFill>
              <a:srgbClr val="FFF5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892040" y="3447288"/>
            <a:ext cx="1161288" cy="1737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1">
                <a:solidFill>
                  <a:srgbClr val="9A5B00"/>
                </a:solidFill>
                <a:latin typeface="Google Sans Flex"/>
              </a:rPr>
              <a:t>IMPACT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873752" y="3904487"/>
            <a:ext cx="1545336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Google Sans Flex"/>
              </a:rPr>
              <a:t>Could a delayed follower reproduce the result?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6812280" y="3246120"/>
            <a:ext cx="1874519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6958584" y="3410712"/>
            <a:ext cx="1234440" cy="274320"/>
          </a:xfrm>
          <a:prstGeom prst="roundRect">
            <a:avLst/>
          </a:prstGeom>
          <a:solidFill>
            <a:srgbClr val="FFF0EE"/>
          </a:solidFill>
          <a:ln w="10160">
            <a:solidFill>
              <a:srgbClr val="FFF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995160" y="3447288"/>
            <a:ext cx="1161288" cy="1737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1">
                <a:solidFill>
                  <a:srgbClr val="B42318"/>
                </a:solidFill>
                <a:latin typeface="Google Sans Flex"/>
              </a:rPr>
              <a:t>FAIRNESS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976872" y="3904487"/>
            <a:ext cx="1545336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Google Sans Flex"/>
              </a:rPr>
              <a:t>Can an author add context without rewriting history?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265350" y="663825"/>
            <a:ext cx="8943000" cy="13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111827"/>
                </a:solidFill>
                <a:latin typeface="Google Sans Flex SemiBold"/>
              </a:rPr>
              <a:t>Opportunities</a:t>
            </a:r>
            <a:endParaRPr sz="16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310896" y="1179576"/>
            <a:ext cx="845820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0">
                <a:solidFill>
                  <a:srgbClr val="667085"/>
                </a:solidFill>
                <a:latin typeface="Google Sans Flex"/>
              </a:rPr>
              <a:t>A large information problem sits between social discovery and responsible action.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11480" y="1627632"/>
            <a:ext cx="2651760" cy="2423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557784" y="1792224"/>
            <a:ext cx="1234440" cy="274320"/>
          </a:xfrm>
          <a:prstGeom prst="roundRect">
            <a:avLst/>
          </a:prstGeom>
          <a:solidFill>
            <a:srgbClr val="EAF1FF"/>
          </a:solidFill>
          <a:ln w="10160">
            <a:solidFill>
              <a:srgbClr val="EA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94360" y="1828800"/>
            <a:ext cx="1161288" cy="1737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1">
                <a:solidFill>
                  <a:srgbClr val="2454A6"/>
                </a:solidFill>
                <a:latin typeface="Google Sans Flex"/>
              </a:rPr>
              <a:t>DIFFERENT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76072" y="2286000"/>
            <a:ext cx="2322576" cy="164591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Google Sans Flex"/>
              </a:rPr>
              <a:t>Most trading products optimize for speed, engagement, or prediction. SignalLedger optimizes for durable context around the people influencing decisions.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3246120" y="1627632"/>
            <a:ext cx="2651760" cy="2423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3392424" y="1792224"/>
            <a:ext cx="1234440" cy="274320"/>
          </a:xfrm>
          <a:prstGeom prst="roundRect">
            <a:avLst/>
          </a:prstGeom>
          <a:solidFill>
            <a:srgbClr val="E7F7F2"/>
          </a:solidFill>
          <a:ln w="10160">
            <a:solidFill>
              <a:srgbClr val="E7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429000" y="1828800"/>
            <a:ext cx="1161288" cy="1737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1">
                <a:solidFill>
                  <a:srgbClr val="0F766E"/>
                </a:solidFill>
                <a:latin typeface="Google Sans Flex"/>
              </a:rPr>
              <a:t>PROBLEM FIT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410712" y="2286000"/>
            <a:ext cx="2322576" cy="164591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Google Sans Flex"/>
              </a:rPr>
              <a:t>Users already follow authors across broker communities, X, newsletters, podcasts, and crypto feeds. The record is fragmented.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6080760" y="1627632"/>
            <a:ext cx="2651760" cy="2423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6227064" y="1792224"/>
            <a:ext cx="1234440" cy="274320"/>
          </a:xfrm>
          <a:prstGeom prst="roundRect">
            <a:avLst/>
          </a:prstGeom>
          <a:solidFill>
            <a:srgbClr val="FFF5D9"/>
          </a:solidFill>
          <a:ln w="10160">
            <a:solidFill>
              <a:srgbClr val="FFF5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263640" y="1828800"/>
            <a:ext cx="1161288" cy="1737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1">
                <a:solidFill>
                  <a:srgbClr val="9A5B00"/>
                </a:solidFill>
                <a:latin typeface="Google Sans Flex"/>
              </a:rPr>
              <a:t>USP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245352" y="2286000"/>
            <a:ext cx="2322576" cy="164591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Google Sans Flex"/>
              </a:rPr>
              <a:t>The author's visible result is separated from a realistic follower path, with source links and explainable labels.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411480" y="4389120"/>
            <a:ext cx="8321040" cy="502920"/>
          </a:xfrm>
          <a:prstGeom prst="roundRect">
            <a:avLst/>
          </a:prstGeom>
          <a:solidFill>
            <a:srgbClr val="EAF1FF"/>
          </a:solidFill>
          <a:ln w="10160">
            <a:solidFill>
              <a:srgbClr val="EA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40080" y="4544568"/>
            <a:ext cx="786384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2454A6"/>
                </a:solidFill>
                <a:latin typeface="Google Sans Flex"/>
              </a:rPr>
              <a:t>Moat: a longitudinal, cross-source accountability graph — not another generic AI score.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111827"/>
                </a:solidFill>
                <a:latin typeface="Google Sans Flex SemiBold"/>
              </a:rPr>
              <a:t>List of features offered by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310896" y="1179576"/>
            <a:ext cx="845820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0">
                <a:solidFill>
                  <a:srgbClr val="667085"/>
                </a:solidFill>
                <a:latin typeface="Google Sans Flex"/>
              </a:rPr>
              <a:t>A community workflow with a professional context layer beside it.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411480" y="1600200"/>
            <a:ext cx="2487168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548640" y="1737360"/>
            <a:ext cx="384048" cy="274320"/>
          </a:xfrm>
          <a:prstGeom prst="roundRect">
            <a:avLst/>
          </a:prstGeom>
          <a:solidFill>
            <a:srgbClr val="EAF1FF"/>
          </a:solidFill>
          <a:ln w="10160">
            <a:solidFill>
              <a:srgbClr val="EA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85216" y="1773936"/>
            <a:ext cx="310896" cy="1737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1">
                <a:solidFill>
                  <a:srgbClr val="2454A6"/>
                </a:solidFill>
                <a:latin typeface="Google Sans Flex"/>
              </a:rPr>
              <a:t>01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69848" y="1755648"/>
            <a:ext cx="1664208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1">
                <a:solidFill>
                  <a:srgbClr val="111827"/>
                </a:solidFill>
                <a:latin typeface="Google Sans Flex"/>
              </a:rPr>
              <a:t>KOL-first Discover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76072" y="2130552"/>
            <a:ext cx="210312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0">
                <a:solidFill>
                  <a:srgbClr val="667085"/>
                </a:solidFill>
                <a:latin typeface="Google Sans Flex"/>
              </a:rPr>
              <a:t>Auto-loaded author feed with search, market filters, public-source labels.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3227832" y="1600200"/>
            <a:ext cx="2487168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3364992" y="1737360"/>
            <a:ext cx="384048" cy="274320"/>
          </a:xfrm>
          <a:prstGeom prst="roundRect">
            <a:avLst/>
          </a:prstGeom>
          <a:solidFill>
            <a:srgbClr val="E7F7F2"/>
          </a:solidFill>
          <a:ln w="10160">
            <a:solidFill>
              <a:srgbClr val="E7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401568" y="1773936"/>
            <a:ext cx="310896" cy="1737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1">
                <a:solidFill>
                  <a:srgbClr val="0F766E"/>
                </a:solidFill>
                <a:latin typeface="Google Sans Flex"/>
              </a:rPr>
              <a:t>02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886200" y="1755648"/>
            <a:ext cx="1664208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1">
                <a:solidFill>
                  <a:srgbClr val="111827"/>
                </a:solidFill>
                <a:latin typeface="Google Sans Flex"/>
              </a:rPr>
              <a:t>Context Card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392424" y="2130552"/>
            <a:ext cx="210312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0">
                <a:solidFill>
                  <a:srgbClr val="667085"/>
                </a:solidFill>
                <a:latin typeface="Google Sans Flex"/>
              </a:rPr>
              <a:t>Original wording, asset, direction, horizon, risk disclosure, evidence quality.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6044184" y="1600200"/>
            <a:ext cx="2487168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6181344" y="1737360"/>
            <a:ext cx="384048" cy="274320"/>
          </a:xfrm>
          <a:prstGeom prst="roundRect">
            <a:avLst/>
          </a:prstGeom>
          <a:solidFill>
            <a:srgbClr val="FFF5D9"/>
          </a:solidFill>
          <a:ln w="10160">
            <a:solidFill>
              <a:srgbClr val="FFF5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217920" y="1773936"/>
            <a:ext cx="310896" cy="1737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1">
                <a:solidFill>
                  <a:srgbClr val="9A5B00"/>
                </a:solidFill>
                <a:latin typeface="Google Sans Flex"/>
              </a:rPr>
              <a:t>03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702552" y="1755648"/>
            <a:ext cx="1664208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1">
                <a:solidFill>
                  <a:srgbClr val="111827"/>
                </a:solidFill>
                <a:latin typeface="Google Sans Flex"/>
              </a:rPr>
              <a:t>Follower Impact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208776" y="2130552"/>
            <a:ext cx="210312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0">
                <a:solidFill>
                  <a:srgbClr val="667085"/>
                </a:solidFill>
                <a:latin typeface="Google Sans Flex"/>
              </a:rPr>
              <a:t>Visible narrative versus delayed-entry scenario and maximum pain.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411480" y="3035808"/>
            <a:ext cx="2487168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548640" y="3172968"/>
            <a:ext cx="384048" cy="274320"/>
          </a:xfrm>
          <a:prstGeom prst="roundRect">
            <a:avLst/>
          </a:prstGeom>
          <a:solidFill>
            <a:srgbClr val="EAF1FF"/>
          </a:solidFill>
          <a:ln w="10160">
            <a:solidFill>
              <a:srgbClr val="EA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85216" y="3209544"/>
            <a:ext cx="310896" cy="1737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1">
                <a:solidFill>
                  <a:srgbClr val="2454A6"/>
                </a:solidFill>
                <a:latin typeface="Google Sans Flex"/>
              </a:rPr>
              <a:t>04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69848" y="3191256"/>
            <a:ext cx="1664208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1">
                <a:solidFill>
                  <a:srgbClr val="111827"/>
                </a:solidFill>
                <a:latin typeface="Google Sans Flex"/>
              </a:rPr>
              <a:t>Author Profile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76072" y="3566160"/>
            <a:ext cx="210312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0">
                <a:solidFill>
                  <a:srgbClr val="667085"/>
                </a:solidFill>
                <a:latin typeface="Google Sans Flex"/>
              </a:rPr>
              <a:t>Disclosure habits, promotional pressure, correction behavior, follower gap.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3227832" y="3035808"/>
            <a:ext cx="2487168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ounded Rectangle 109"/>
          <p:cNvSpPr/>
          <p:nvPr/>
        </p:nvSpPr>
        <p:spPr>
          <a:xfrm>
            <a:off x="3364992" y="3172968"/>
            <a:ext cx="384048" cy="274320"/>
          </a:xfrm>
          <a:prstGeom prst="roundRect">
            <a:avLst/>
          </a:prstGeom>
          <a:solidFill>
            <a:srgbClr val="E7F7F2"/>
          </a:solidFill>
          <a:ln w="10160">
            <a:solidFill>
              <a:srgbClr val="E7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3401568" y="3209544"/>
            <a:ext cx="310896" cy="1737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1">
                <a:solidFill>
                  <a:srgbClr val="0F766E"/>
                </a:solidFill>
                <a:latin typeface="Google Sans Flex"/>
              </a:rPr>
              <a:t>05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886200" y="3191256"/>
            <a:ext cx="1664208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1">
                <a:solidFill>
                  <a:srgbClr val="111827"/>
                </a:solidFill>
                <a:latin typeface="Google Sans Flex"/>
              </a:rPr>
              <a:t>Source Traceability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392424" y="3566160"/>
            <a:ext cx="210312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0">
                <a:solidFill>
                  <a:srgbClr val="667085"/>
                </a:solidFill>
                <a:latin typeface="Google Sans Flex"/>
              </a:rPr>
              <a:t>Public RSS/article links, delayed market snapshots, cached fallback state.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6044184" y="3035808"/>
            <a:ext cx="2487168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ounded Rectangle 114"/>
          <p:cNvSpPr/>
          <p:nvPr/>
        </p:nvSpPr>
        <p:spPr>
          <a:xfrm>
            <a:off x="6181344" y="3172968"/>
            <a:ext cx="384048" cy="274320"/>
          </a:xfrm>
          <a:prstGeom prst="roundRect">
            <a:avLst/>
          </a:prstGeom>
          <a:solidFill>
            <a:srgbClr val="FFF0EE"/>
          </a:solidFill>
          <a:ln w="10160">
            <a:solidFill>
              <a:srgbClr val="FFF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217920" y="3209544"/>
            <a:ext cx="310896" cy="1737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1">
                <a:solidFill>
                  <a:srgbClr val="B42318"/>
                </a:solidFill>
                <a:latin typeface="Google Sans Flex"/>
              </a:rPr>
              <a:t>06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702552" y="3191256"/>
            <a:ext cx="1664208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1">
                <a:solidFill>
                  <a:srgbClr val="111827"/>
                </a:solidFill>
                <a:latin typeface="Google Sans Flex"/>
              </a:rPr>
              <a:t>Fairness Flow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208776" y="3566160"/>
            <a:ext cx="210312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0">
                <a:solidFill>
                  <a:srgbClr val="667085"/>
                </a:solidFill>
                <a:latin typeface="Google Sans Flex"/>
              </a:rPr>
              <a:t>Author additions and corrections saved as new versions.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111827"/>
                </a:solidFill>
                <a:latin typeface="Google Sans Flex SemiBold"/>
              </a:rPr>
              <a:t>Process flow diagram / Use-case diagram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310896" y="1179576"/>
            <a:ext cx="845820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0">
                <a:solidFill>
                  <a:srgbClr val="667085"/>
                </a:solidFill>
                <a:latin typeface="Google Sans Flex"/>
              </a:rPr>
              <a:t>From an author's public post to a durable context record.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384048" y="2011680"/>
            <a:ext cx="1389888" cy="1298448"/>
          </a:xfrm>
          <a:prstGeom prst="roundRect">
            <a:avLst/>
          </a:prstGeom>
          <a:solidFill>
            <a:srgbClr val="EAF1FF"/>
          </a:solidFill>
          <a:ln w="10160">
            <a:solidFill>
              <a:srgbClr val="245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93776" y="2176272"/>
            <a:ext cx="32004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454A6"/>
                </a:solidFill>
                <a:latin typeface="Google Sans Flex"/>
              </a:rPr>
              <a:t>01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93776" y="2514600"/>
            <a:ext cx="1115568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Google Sans Flex"/>
              </a:rPr>
              <a:t>Discover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93776" y="2852928"/>
            <a:ext cx="111556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667085"/>
                </a:solidFill>
                <a:latin typeface="Google Sans Flex"/>
              </a:rPr>
              <a:t>Follow an author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1801368" y="2660904"/>
            <a:ext cx="256032" cy="0"/>
          </a:xfrm>
          <a:prstGeom prst="line">
            <a:avLst/>
          </a:prstGeom>
          <a:ln w="15240">
            <a:solidFill>
              <a:srgbClr val="DD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Rounded Rectangle 101"/>
          <p:cNvSpPr/>
          <p:nvPr/>
        </p:nvSpPr>
        <p:spPr>
          <a:xfrm>
            <a:off x="2121408" y="2011680"/>
            <a:ext cx="1389888" cy="1298448"/>
          </a:xfrm>
          <a:prstGeom prst="roundRect">
            <a:avLst/>
          </a:prstGeom>
          <a:solidFill>
            <a:srgbClr val="E7F7F2"/>
          </a:solidFill>
          <a:ln w="1016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2231136" y="2176272"/>
            <a:ext cx="32004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Google Sans Flex"/>
              </a:rPr>
              <a:t>02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231136" y="2514600"/>
            <a:ext cx="1115568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Google Sans Flex"/>
              </a:rPr>
              <a:t>Capture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231136" y="2852928"/>
            <a:ext cx="111556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667085"/>
                </a:solidFill>
                <a:latin typeface="Google Sans Flex"/>
              </a:rPr>
              <a:t>Preserve source + time</a:t>
            </a:r>
          </a:p>
        </p:txBody>
      </p:sp>
      <p:cxnSp>
        <p:nvCxnSpPr>
          <p:cNvPr id="106" name="Connector 105"/>
          <p:cNvCxnSpPr/>
          <p:nvPr/>
        </p:nvCxnSpPr>
        <p:spPr>
          <a:xfrm>
            <a:off x="3538728" y="2660904"/>
            <a:ext cx="256032" cy="0"/>
          </a:xfrm>
          <a:prstGeom prst="line">
            <a:avLst/>
          </a:prstGeom>
          <a:ln w="15240">
            <a:solidFill>
              <a:srgbClr val="DD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Rounded Rectangle 106"/>
          <p:cNvSpPr/>
          <p:nvPr/>
        </p:nvSpPr>
        <p:spPr>
          <a:xfrm>
            <a:off x="3858768" y="2011680"/>
            <a:ext cx="1389888" cy="1298448"/>
          </a:xfrm>
          <a:prstGeom prst="roundRect">
            <a:avLst/>
          </a:prstGeom>
          <a:solidFill>
            <a:srgbClr val="FFF5D9"/>
          </a:solidFill>
          <a:ln w="10160">
            <a:solidFill>
              <a:srgbClr val="9A5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3968496" y="2176272"/>
            <a:ext cx="32004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9A5B00"/>
                </a:solidFill>
                <a:latin typeface="Google Sans Flex"/>
              </a:rPr>
              <a:t>03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968496" y="2514600"/>
            <a:ext cx="1115568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Google Sans Flex"/>
              </a:rPr>
              <a:t>Structure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968496" y="2852928"/>
            <a:ext cx="111556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667085"/>
                </a:solidFill>
                <a:latin typeface="Google Sans Flex"/>
              </a:rPr>
              <a:t>Extract context fields</a:t>
            </a:r>
          </a:p>
        </p:txBody>
      </p:sp>
      <p:cxnSp>
        <p:nvCxnSpPr>
          <p:cNvPr id="111" name="Connector 110"/>
          <p:cNvCxnSpPr/>
          <p:nvPr/>
        </p:nvCxnSpPr>
        <p:spPr>
          <a:xfrm>
            <a:off x="5276088" y="2660904"/>
            <a:ext cx="256032" cy="0"/>
          </a:xfrm>
          <a:prstGeom prst="line">
            <a:avLst/>
          </a:prstGeom>
          <a:ln w="15240">
            <a:solidFill>
              <a:srgbClr val="DD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Rounded Rectangle 111"/>
          <p:cNvSpPr/>
          <p:nvPr/>
        </p:nvSpPr>
        <p:spPr>
          <a:xfrm>
            <a:off x="5596127" y="2011680"/>
            <a:ext cx="1389888" cy="1298448"/>
          </a:xfrm>
          <a:prstGeom prst="roundRect">
            <a:avLst/>
          </a:prstGeom>
          <a:solidFill>
            <a:srgbClr val="FFF0EE"/>
          </a:solidFill>
          <a:ln w="10160"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705855" y="2176272"/>
            <a:ext cx="32004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B42318"/>
                </a:solidFill>
                <a:latin typeface="Google Sans Flex"/>
              </a:rPr>
              <a:t>04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705855" y="2514600"/>
            <a:ext cx="1115568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Google Sans Flex"/>
              </a:rPr>
              <a:t>Compare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705855" y="2852928"/>
            <a:ext cx="111556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667085"/>
                </a:solidFill>
                <a:latin typeface="Google Sans Flex"/>
              </a:rPr>
              <a:t>Model follower path</a:t>
            </a:r>
          </a:p>
        </p:txBody>
      </p:sp>
      <p:cxnSp>
        <p:nvCxnSpPr>
          <p:cNvPr id="116" name="Connector 115"/>
          <p:cNvCxnSpPr/>
          <p:nvPr/>
        </p:nvCxnSpPr>
        <p:spPr>
          <a:xfrm>
            <a:off x="7013447" y="2660904"/>
            <a:ext cx="256032" cy="0"/>
          </a:xfrm>
          <a:prstGeom prst="line">
            <a:avLst/>
          </a:prstGeom>
          <a:ln w="15240">
            <a:solidFill>
              <a:srgbClr val="DD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Rounded Rectangle 116"/>
          <p:cNvSpPr/>
          <p:nvPr/>
        </p:nvSpPr>
        <p:spPr>
          <a:xfrm>
            <a:off x="7333488" y="2011680"/>
            <a:ext cx="1389888" cy="1298448"/>
          </a:xfrm>
          <a:prstGeom prst="roundRect">
            <a:avLst/>
          </a:prstGeom>
          <a:solidFill>
            <a:srgbClr val="EAF1FF"/>
          </a:solidFill>
          <a:ln w="10160">
            <a:solidFill>
              <a:srgbClr val="245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7443215" y="2176272"/>
            <a:ext cx="32004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454A6"/>
                </a:solidFill>
                <a:latin typeface="Google Sans Flex"/>
              </a:rPr>
              <a:t>05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443215" y="2514600"/>
            <a:ext cx="1115568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Google Sans Flex"/>
              </a:rPr>
              <a:t>Correct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443215" y="2852928"/>
            <a:ext cx="111556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667085"/>
                </a:solidFill>
                <a:latin typeface="Google Sans Flex"/>
              </a:rPr>
              <a:t>Add context as version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14400" y="4297680"/>
            <a:ext cx="731520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111827"/>
                </a:solidFill>
                <a:latin typeface="Google Sans Flex"/>
              </a:rPr>
              <a:t>User question: “Can I understand this author before I act on the post?”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111827"/>
                </a:solidFill>
                <a:latin typeface="Google Sans Flex SemiBold"/>
              </a:rPr>
              <a:t>Wireframes / Mock diagrams of the proposed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310896" y="1179576"/>
            <a:ext cx="845820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0">
                <a:solidFill>
                  <a:srgbClr val="667085"/>
                </a:solidFill>
                <a:latin typeface="Google Sans Flex"/>
              </a:rPr>
              <a:t>The first screen is a community feed, not an empty dashboard.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502920" y="1417320"/>
            <a:ext cx="8138160" cy="3337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502920" y="1417320"/>
            <a:ext cx="1280160" cy="3337560"/>
          </a:xfrm>
          <a:prstGeom prst="rect">
            <a:avLst/>
          </a:prstGeom>
          <a:solidFill>
            <a:srgbClr val="FAFBFD"/>
          </a:solidFill>
          <a:ln w="1016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13232" y="1719072"/>
            <a:ext cx="868680" cy="2011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11827"/>
                </a:solidFill>
                <a:latin typeface="Google Sans Flex"/>
              </a:rPr>
              <a:t>SL
Discover
Signal Detail
Follower Impact
Author Profile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057400" y="1700784"/>
            <a:ext cx="283464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1">
                <a:solidFill>
                  <a:srgbClr val="2454A6"/>
                </a:solidFill>
                <a:latin typeface="Google Sans Flex"/>
              </a:rPr>
              <a:t>AUTHORS WORTH WATCHING TODAY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2011680" y="2121408"/>
            <a:ext cx="3886200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ounded Rectangle 109"/>
          <p:cNvSpPr/>
          <p:nvPr/>
        </p:nvSpPr>
        <p:spPr>
          <a:xfrm>
            <a:off x="2148840" y="2249424"/>
            <a:ext cx="438912" cy="274320"/>
          </a:xfrm>
          <a:prstGeom prst="roundRect">
            <a:avLst/>
          </a:prstGeom>
          <a:solidFill>
            <a:srgbClr val="EAF1FF"/>
          </a:solidFill>
          <a:ln w="10160">
            <a:solidFill>
              <a:srgbClr val="EA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185416" y="2286000"/>
            <a:ext cx="365759" cy="1737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1">
                <a:solidFill>
                  <a:srgbClr val="2454A6"/>
                </a:solidFill>
                <a:latin typeface="Google Sans Flex"/>
              </a:rPr>
              <a:t>BA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2743200" y="2231136"/>
            <a:ext cx="123444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1">
                <a:solidFill>
                  <a:srgbClr val="111827"/>
                </a:solidFill>
                <a:latin typeface="Google Sans Flex"/>
              </a:rPr>
              <a:t>Barry Ritholtz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041648" y="2231136"/>
            <a:ext cx="155448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>
                <a:solidFill>
                  <a:srgbClr val="667085"/>
                </a:solidFill>
                <a:latin typeface="Google Sans Flex"/>
              </a:rPr>
              <a:t>Public source / scenario context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2011680" y="2807208"/>
            <a:ext cx="3886200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ounded Rectangle 114"/>
          <p:cNvSpPr/>
          <p:nvPr/>
        </p:nvSpPr>
        <p:spPr>
          <a:xfrm>
            <a:off x="2148840" y="2935224"/>
            <a:ext cx="438912" cy="274320"/>
          </a:xfrm>
          <a:prstGeom prst="roundRect">
            <a:avLst/>
          </a:prstGeom>
          <a:solidFill>
            <a:srgbClr val="EAF1FF"/>
          </a:solidFill>
          <a:ln w="10160">
            <a:solidFill>
              <a:srgbClr val="EA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2185416" y="2971800"/>
            <a:ext cx="365759" cy="1737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1">
                <a:solidFill>
                  <a:srgbClr val="2454A6"/>
                </a:solidFill>
                <a:latin typeface="Google Sans Flex"/>
              </a:rPr>
              <a:t>BE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743200" y="2916936"/>
            <a:ext cx="123444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1">
                <a:solidFill>
                  <a:srgbClr val="111827"/>
                </a:solidFill>
                <a:latin typeface="Google Sans Flex"/>
              </a:rPr>
              <a:t>Ben Carlson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041648" y="2916936"/>
            <a:ext cx="155448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>
                <a:solidFill>
                  <a:srgbClr val="667085"/>
                </a:solidFill>
                <a:latin typeface="Google Sans Flex"/>
              </a:rPr>
              <a:t>Public source / scenario context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2011680" y="3493008"/>
            <a:ext cx="3886200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ounded Rectangle 119"/>
          <p:cNvSpPr/>
          <p:nvPr/>
        </p:nvSpPr>
        <p:spPr>
          <a:xfrm>
            <a:off x="2148840" y="3621024"/>
            <a:ext cx="438912" cy="274320"/>
          </a:xfrm>
          <a:prstGeom prst="roundRect">
            <a:avLst/>
          </a:prstGeom>
          <a:solidFill>
            <a:srgbClr val="FFF5D9"/>
          </a:solidFill>
          <a:ln w="10160">
            <a:solidFill>
              <a:srgbClr val="FFF5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2185416" y="3657600"/>
            <a:ext cx="365759" cy="1737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1">
                <a:solidFill>
                  <a:srgbClr val="9A5B00"/>
                </a:solidFill>
                <a:latin typeface="Google Sans Flex"/>
              </a:rPr>
              <a:t>HY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743200" y="3602736"/>
            <a:ext cx="123444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1">
                <a:solidFill>
                  <a:srgbClr val="111827"/>
                </a:solidFill>
                <a:latin typeface="Google Sans Flex"/>
              </a:rPr>
              <a:t>HypeMax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041648" y="3602736"/>
            <a:ext cx="1554480" cy="146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>
                <a:solidFill>
                  <a:srgbClr val="667085"/>
                </a:solidFill>
                <a:latin typeface="Google Sans Flex"/>
              </a:rPr>
              <a:t>Public source / scenario context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6217920" y="1691640"/>
            <a:ext cx="2011680" cy="2578608"/>
          </a:xfrm>
          <a:prstGeom prst="roundRect">
            <a:avLst/>
          </a:prstGeom>
          <a:solidFill>
            <a:srgbClr val="111827"/>
          </a:solidFill>
          <a:ln w="1016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6473952" y="1938528"/>
            <a:ext cx="1417320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00" b="1">
                <a:solidFill>
                  <a:srgbClr val="B1C9EB"/>
                </a:solidFill>
                <a:latin typeface="Google Sans Flex"/>
              </a:rPr>
              <a:t>SELECTED AUTHOR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473952" y="2304288"/>
            <a:ext cx="13716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Google Sans Flex"/>
              </a:rPr>
              <a:t>Context at a glance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473952" y="3017520"/>
            <a:ext cx="1389888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4D1E5"/>
                </a:solidFill>
                <a:latin typeface="Google Sans Flex"/>
              </a:rPr>
              <a:t>Risk disclosure
Source link
Follower impact
Add context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40080" y="5074920"/>
            <a:ext cx="80467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67085"/>
                </a:solidFill>
                <a:latin typeface="Google Sans Flex"/>
              </a:rPr>
              <a:t>Prototype is live at signalledger-ai-builder-cup.web.app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111827"/>
                </a:solidFill>
                <a:latin typeface="Google Sans Flex SemiBold"/>
              </a:rPr>
              <a:t>Architecture diagram of the proposed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310896" y="1179576"/>
            <a:ext cx="845820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0">
                <a:solidFill>
                  <a:srgbClr val="667085"/>
                </a:solidFill>
                <a:latin typeface="Google Sans Flex"/>
              </a:rPr>
              <a:t>Firebase Hosting serves the app; Cloud Run keeps data and model access behind an API.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594360" y="2084831"/>
            <a:ext cx="1828800" cy="1188720"/>
          </a:xfrm>
          <a:prstGeom prst="roundRect">
            <a:avLst/>
          </a:prstGeom>
          <a:solidFill>
            <a:srgbClr val="EAF1FF"/>
          </a:solidFill>
          <a:ln w="10160">
            <a:solidFill>
              <a:srgbClr val="245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31520" y="2331720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2454A6"/>
                </a:solidFill>
                <a:latin typeface="Google Sans Flex"/>
              </a:rPr>
              <a:t>Firebase Hosting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31520" y="2697480"/>
            <a:ext cx="15544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667085"/>
                </a:solidFill>
                <a:latin typeface="Google Sans Flex"/>
              </a:rPr>
              <a:t>KOL-first web app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2926080" y="2084831"/>
            <a:ext cx="1828800" cy="1188720"/>
          </a:xfrm>
          <a:prstGeom prst="roundRect">
            <a:avLst/>
          </a:prstGeom>
          <a:solidFill>
            <a:srgbClr val="E7F7F2"/>
          </a:solidFill>
          <a:ln w="1016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3063240" y="2331720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F766E"/>
                </a:solidFill>
                <a:latin typeface="Google Sans Flex"/>
              </a:rPr>
              <a:t>Cloud Run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063240" y="2697480"/>
            <a:ext cx="15544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667085"/>
                </a:solidFill>
                <a:latin typeface="Google Sans Flex"/>
              </a:rPr>
              <a:t>API + cache
min 0 / max 1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5257800" y="2084831"/>
            <a:ext cx="1828800" cy="1188720"/>
          </a:xfrm>
          <a:prstGeom prst="roundRect">
            <a:avLst/>
          </a:prstGeom>
          <a:solidFill>
            <a:srgbClr val="FFF5D9"/>
          </a:solidFill>
          <a:ln w="10160">
            <a:solidFill>
              <a:srgbClr val="9A5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5394960" y="2331720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9A5B00"/>
                </a:solidFill>
                <a:latin typeface="Google Sans Flex"/>
              </a:rPr>
              <a:t>Public sources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394960" y="2697480"/>
            <a:ext cx="15544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667085"/>
                </a:solidFill>
                <a:latin typeface="Google Sans Flex"/>
              </a:rPr>
              <a:t>Nasdaq · CoinGecko
RSS authors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7589520" y="2084831"/>
            <a:ext cx="1828800" cy="1188720"/>
          </a:xfrm>
          <a:prstGeom prst="roundRect">
            <a:avLst/>
          </a:prstGeom>
          <a:solidFill>
            <a:srgbClr val="FFF0EE"/>
          </a:solidFill>
          <a:ln w="10160"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7726680" y="2331720"/>
            <a:ext cx="155448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B42318"/>
                </a:solidFill>
                <a:latin typeface="Google Sans Flex"/>
              </a:rPr>
              <a:t>Gemini / Vertex AI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7726680" y="2697480"/>
            <a:ext cx="15544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667085"/>
                </a:solidFill>
                <a:latin typeface="Google Sans Flex"/>
              </a:rPr>
              <a:t>Opt-in extraction
not default</a:t>
            </a:r>
          </a:p>
        </p:txBody>
      </p:sp>
      <p:cxnSp>
        <p:nvCxnSpPr>
          <p:cNvPr id="125" name="Connector 124"/>
          <p:cNvCxnSpPr/>
          <p:nvPr/>
        </p:nvCxnSpPr>
        <p:spPr>
          <a:xfrm>
            <a:off x="2487168" y="2670048"/>
            <a:ext cx="365760" cy="0"/>
          </a:xfrm>
          <a:prstGeom prst="line">
            <a:avLst/>
          </a:prstGeom>
          <a:ln>
            <a:solidFill>
              <a:srgbClr val="DD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4818888" y="2670048"/>
            <a:ext cx="365760" cy="0"/>
          </a:xfrm>
          <a:prstGeom prst="line">
            <a:avLst/>
          </a:prstGeom>
          <a:ln>
            <a:solidFill>
              <a:srgbClr val="DD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7150608" y="2670048"/>
            <a:ext cx="365760" cy="0"/>
          </a:xfrm>
          <a:prstGeom prst="line">
            <a:avLst/>
          </a:prstGeom>
          <a:ln>
            <a:solidFill>
              <a:srgbClr val="DD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Rounded Rectangle 127"/>
          <p:cNvSpPr/>
          <p:nvPr/>
        </p:nvSpPr>
        <p:spPr>
          <a:xfrm>
            <a:off x="1325880" y="3977639"/>
            <a:ext cx="6629400" cy="621792"/>
          </a:xfrm>
          <a:prstGeom prst="roundRect">
            <a:avLst/>
          </a:prstGeom>
          <a:solidFill>
            <a:srgbClr val="111827"/>
          </a:solidFill>
          <a:ln w="1016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1508760" y="4187952"/>
            <a:ext cx="626364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Google Sans Flex"/>
              </a:rPr>
              <a:t>Versioned context records  →  author graph  →  follower-impact scenarios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914400" y="4983480"/>
            <a:ext cx="740664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67085"/>
                </a:solidFill>
                <a:latin typeface="Google Sans Flex"/>
              </a:rPr>
              <a:t>Default public deployment disables live model calls to keep the Demo within zero-model-cost mode.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111827"/>
                </a:solidFill>
                <a:latin typeface="Google Sans Flex SemiBold"/>
              </a:rPr>
              <a:t>Technologies to be used in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310896" y="1179576"/>
            <a:ext cx="845820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0">
                <a:solidFill>
                  <a:srgbClr val="667085"/>
                </a:solidFill>
                <a:latin typeface="Google Sans Flex"/>
              </a:rPr>
              <a:t>The prototype is deployed and the production path is intentionally modular.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566928" y="1874519"/>
            <a:ext cx="182880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ounded Rectangle 121"/>
          <p:cNvSpPr/>
          <p:nvPr/>
        </p:nvSpPr>
        <p:spPr>
          <a:xfrm>
            <a:off x="749808" y="2084831"/>
            <a:ext cx="1463040" cy="274320"/>
          </a:xfrm>
          <a:prstGeom prst="roundRect">
            <a:avLst/>
          </a:prstGeom>
          <a:solidFill>
            <a:srgbClr val="EAF1FF"/>
          </a:solidFill>
          <a:ln w="10160">
            <a:solidFill>
              <a:srgbClr val="EA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786384" y="2121408"/>
            <a:ext cx="1389888" cy="1737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1">
                <a:solidFill>
                  <a:srgbClr val="2454A6"/>
                </a:solidFill>
                <a:latin typeface="Google Sans Flex"/>
              </a:rPr>
              <a:t>Frontend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749808" y="2670048"/>
            <a:ext cx="146304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Google Sans Flex"/>
              </a:rPr>
              <a:t>HTML · CSS · JavaScript
Firebase Hosting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2743200" y="1874519"/>
            <a:ext cx="182880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ounded Rectangle 125"/>
          <p:cNvSpPr/>
          <p:nvPr/>
        </p:nvSpPr>
        <p:spPr>
          <a:xfrm>
            <a:off x="2926080" y="2084831"/>
            <a:ext cx="1463040" cy="274320"/>
          </a:xfrm>
          <a:prstGeom prst="roundRect">
            <a:avLst/>
          </a:prstGeom>
          <a:solidFill>
            <a:srgbClr val="E7F7F2"/>
          </a:solidFill>
          <a:ln w="10160">
            <a:solidFill>
              <a:srgbClr val="E7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2962656" y="2121408"/>
            <a:ext cx="1389888" cy="1737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1">
                <a:solidFill>
                  <a:srgbClr val="0F766E"/>
                </a:solidFill>
                <a:latin typeface="Google Sans Flex"/>
              </a:rPr>
              <a:t>API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2926080" y="2670048"/>
            <a:ext cx="146304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Google Sans Flex"/>
              </a:rPr>
              <a:t>Node.js · Cloud Run
Public-source cache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4919472" y="1874519"/>
            <a:ext cx="182880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ounded Rectangle 129"/>
          <p:cNvSpPr/>
          <p:nvPr/>
        </p:nvSpPr>
        <p:spPr>
          <a:xfrm>
            <a:off x="5102352" y="2084831"/>
            <a:ext cx="1463040" cy="274320"/>
          </a:xfrm>
          <a:prstGeom prst="roundRect">
            <a:avLst/>
          </a:prstGeom>
          <a:solidFill>
            <a:srgbClr val="FFF5D9"/>
          </a:solidFill>
          <a:ln w="10160">
            <a:solidFill>
              <a:srgbClr val="FFF5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5138928" y="2121408"/>
            <a:ext cx="1389888" cy="1737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1">
                <a:solidFill>
                  <a:srgbClr val="9A5B00"/>
                </a:solidFill>
                <a:latin typeface="Google Sans Flex"/>
              </a:rPr>
              <a:t>AI path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5102352" y="2670048"/>
            <a:ext cx="146304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Google Sans Flex"/>
              </a:rPr>
              <a:t>Gemini / Vertex AI
Structured JSON extraction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7095744" y="1874519"/>
            <a:ext cx="182880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ounded Rectangle 133"/>
          <p:cNvSpPr/>
          <p:nvPr/>
        </p:nvSpPr>
        <p:spPr>
          <a:xfrm>
            <a:off x="7278624" y="2084831"/>
            <a:ext cx="1463040" cy="274320"/>
          </a:xfrm>
          <a:prstGeom prst="roundRect">
            <a:avLst/>
          </a:prstGeom>
          <a:solidFill>
            <a:srgbClr val="FFF0EE"/>
          </a:solidFill>
          <a:ln w="10160">
            <a:solidFill>
              <a:srgbClr val="FFF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7315200" y="2121408"/>
            <a:ext cx="1389888" cy="1737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1">
                <a:solidFill>
                  <a:srgbClr val="B42318"/>
                </a:solidFill>
                <a:latin typeface="Google Sans Flex"/>
              </a:rPr>
              <a:t>Data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278624" y="2670048"/>
            <a:ext cx="146304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Google Sans Flex"/>
              </a:rPr>
              <a:t>Nasdaq · CoinGecko
RSS + Firestore roadmap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566928" y="3977639"/>
            <a:ext cx="8193024" cy="658368"/>
          </a:xfrm>
          <a:prstGeom prst="roundRect">
            <a:avLst/>
          </a:prstGeom>
          <a:solidFill>
            <a:srgbClr val="E7F7F2"/>
          </a:solidFill>
          <a:ln w="10160">
            <a:solidFill>
              <a:srgbClr val="E7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822960" y="4206240"/>
            <a:ext cx="768096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F766E"/>
                </a:solidFill>
                <a:latin typeface="Google Sans Flex"/>
              </a:rPr>
              <a:t>Google Cloud services are used for deployment, API isolation, caching, and the opt-in AI path.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2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111827"/>
                </a:solidFill>
                <a:latin typeface="Google Sans Flex SemiBold"/>
              </a:rPr>
              <a:t>Estimated implementation cost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310896" y="1179576"/>
            <a:ext cx="845820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0">
                <a:solidFill>
                  <a:srgbClr val="667085"/>
                </a:solidFill>
                <a:latin typeface="Google Sans Flex"/>
              </a:rPr>
              <a:t>A cost-safe public Demo with a clear switch for live model usage.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594360" y="1783080"/>
            <a:ext cx="1143000" cy="438912"/>
          </a:xfrm>
          <a:prstGeom prst="rect">
            <a:avLst/>
          </a:prstGeom>
          <a:solidFill>
            <a:srgbClr val="111827"/>
          </a:solidFill>
          <a:ln w="1016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667512" y="1920240"/>
            <a:ext cx="996696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Google Sans Flex"/>
              </a:rPr>
              <a:t>Mode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965960" y="1783080"/>
            <a:ext cx="3017520" cy="438912"/>
          </a:xfrm>
          <a:prstGeom prst="rect">
            <a:avLst/>
          </a:prstGeom>
          <a:solidFill>
            <a:srgbClr val="111827"/>
          </a:solidFill>
          <a:ln w="1016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2039112" y="1920240"/>
            <a:ext cx="2871215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Google Sans Flex"/>
              </a:rPr>
              <a:t>What runs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5257800" y="1783080"/>
            <a:ext cx="1737360" cy="438912"/>
          </a:xfrm>
          <a:prstGeom prst="rect">
            <a:avLst/>
          </a:prstGeom>
          <a:solidFill>
            <a:srgbClr val="111827"/>
          </a:solidFill>
          <a:ln w="1016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5330952" y="1920240"/>
            <a:ext cx="1591056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Google Sans Flex"/>
              </a:rPr>
              <a:t>Cost posture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7223760" y="1783080"/>
            <a:ext cx="1417320" cy="438912"/>
          </a:xfrm>
          <a:prstGeom prst="rect">
            <a:avLst/>
          </a:prstGeom>
          <a:solidFill>
            <a:srgbClr val="111827"/>
          </a:solidFill>
          <a:ln w="1016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7296912" y="1920240"/>
            <a:ext cx="1271016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Google Sans Flex"/>
              </a:rPr>
              <a:t>Status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594360" y="2267712"/>
            <a:ext cx="1143000" cy="557784"/>
          </a:xfrm>
          <a:prstGeom prst="rect">
            <a:avLst/>
          </a:prstGeom>
          <a:solidFill>
            <a:srgbClr val="FFFFFF"/>
          </a:solidFill>
          <a:ln w="1016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667512" y="2368296"/>
            <a:ext cx="996696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0">
                <a:solidFill>
                  <a:srgbClr val="111827"/>
                </a:solidFill>
                <a:latin typeface="Google Sans Flex"/>
              </a:rPr>
              <a:t>Demo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1965960" y="2267712"/>
            <a:ext cx="3017520" cy="557784"/>
          </a:xfrm>
          <a:prstGeom prst="rect">
            <a:avLst/>
          </a:prstGeom>
          <a:solidFill>
            <a:srgbClr val="FFFFFF"/>
          </a:solidFill>
          <a:ln w="1016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2039112" y="2368296"/>
            <a:ext cx="2871215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0">
                <a:solidFill>
                  <a:srgbClr val="111827"/>
                </a:solidFill>
                <a:latin typeface="Google Sans Flex"/>
              </a:rPr>
              <a:t>Firebase + Cloud Run min 0
Offline context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5257800" y="2267712"/>
            <a:ext cx="1737360" cy="557784"/>
          </a:xfrm>
          <a:prstGeom prst="rect">
            <a:avLst/>
          </a:prstGeom>
          <a:solidFill>
            <a:srgbClr val="FFFFFF"/>
          </a:solidFill>
          <a:ln w="1016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5330952" y="2368296"/>
            <a:ext cx="1591056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0">
                <a:solidFill>
                  <a:srgbClr val="111827"/>
                </a:solidFill>
                <a:latin typeface="Google Sans Flex"/>
              </a:rPr>
              <a:t>Designed for free usage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7223760" y="2267712"/>
            <a:ext cx="1417320" cy="557784"/>
          </a:xfrm>
          <a:prstGeom prst="rect">
            <a:avLst/>
          </a:prstGeom>
          <a:solidFill>
            <a:srgbClr val="FFFFFF"/>
          </a:solidFill>
          <a:ln w="1016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7296912" y="2368296"/>
            <a:ext cx="1271016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1">
                <a:solidFill>
                  <a:srgbClr val="0F766E"/>
                </a:solidFill>
                <a:latin typeface="Google Sans Flex"/>
              </a:rPr>
              <a:t>DEPLOYED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594360" y="2926080"/>
            <a:ext cx="1143000" cy="557784"/>
          </a:xfrm>
          <a:prstGeom prst="rect">
            <a:avLst/>
          </a:prstGeom>
          <a:solidFill>
            <a:srgbClr val="FFFFFF"/>
          </a:solidFill>
          <a:ln w="1016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667512" y="3026664"/>
            <a:ext cx="996696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0">
                <a:solidFill>
                  <a:srgbClr val="111827"/>
                </a:solidFill>
                <a:latin typeface="Google Sans Flex"/>
              </a:rPr>
              <a:t>Live AI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1965960" y="2926080"/>
            <a:ext cx="3017520" cy="557784"/>
          </a:xfrm>
          <a:prstGeom prst="rect">
            <a:avLst/>
          </a:prstGeom>
          <a:solidFill>
            <a:srgbClr val="FFFFFF"/>
          </a:solidFill>
          <a:ln w="1016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2039112" y="3026664"/>
            <a:ext cx="2871215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0">
                <a:solidFill>
                  <a:srgbClr val="111827"/>
                </a:solidFill>
                <a:latin typeface="Google Sans Flex"/>
              </a:rPr>
              <a:t>Vertex AI Gemini extraction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5257800" y="2926080"/>
            <a:ext cx="1737360" cy="557784"/>
          </a:xfrm>
          <a:prstGeom prst="rect">
            <a:avLst/>
          </a:prstGeom>
          <a:solidFill>
            <a:srgbClr val="FFFFFF"/>
          </a:solidFill>
          <a:ln w="1016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5330952" y="3026664"/>
            <a:ext cx="1591056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0">
                <a:solidFill>
                  <a:srgbClr val="111827"/>
                </a:solidFill>
                <a:latin typeface="Google Sans Flex"/>
              </a:rPr>
              <a:t>Usage-based; opt-in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7223760" y="2926080"/>
            <a:ext cx="1417320" cy="557784"/>
          </a:xfrm>
          <a:prstGeom prst="rect">
            <a:avLst/>
          </a:prstGeom>
          <a:solidFill>
            <a:srgbClr val="FFFFFF"/>
          </a:solidFill>
          <a:ln w="1016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7296912" y="3026664"/>
            <a:ext cx="1271016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1">
                <a:solidFill>
                  <a:srgbClr val="0F766E"/>
                </a:solidFill>
                <a:latin typeface="Google Sans Flex"/>
              </a:rPr>
              <a:t>READY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594360" y="3584448"/>
            <a:ext cx="1143000" cy="557784"/>
          </a:xfrm>
          <a:prstGeom prst="rect">
            <a:avLst/>
          </a:prstGeom>
          <a:solidFill>
            <a:srgbClr val="FFFFFF"/>
          </a:solidFill>
          <a:ln w="1016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667512" y="3685032"/>
            <a:ext cx="996696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0">
                <a:solidFill>
                  <a:srgbClr val="111827"/>
                </a:solidFill>
                <a:latin typeface="Google Sans Flex"/>
              </a:rPr>
              <a:t>Scale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1965960" y="3584448"/>
            <a:ext cx="3017520" cy="557784"/>
          </a:xfrm>
          <a:prstGeom prst="rect">
            <a:avLst/>
          </a:prstGeom>
          <a:solidFill>
            <a:srgbClr val="FFFFFF"/>
          </a:solidFill>
          <a:ln w="1016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2039112" y="3685032"/>
            <a:ext cx="2871215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0">
                <a:solidFill>
                  <a:srgbClr val="111827"/>
                </a:solidFill>
                <a:latin typeface="Google Sans Flex"/>
              </a:rPr>
              <a:t>Firestore + BigQuery
licensed sources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5257800" y="3584448"/>
            <a:ext cx="1737360" cy="557784"/>
          </a:xfrm>
          <a:prstGeom prst="rect">
            <a:avLst/>
          </a:prstGeom>
          <a:solidFill>
            <a:srgbClr val="FFFFFF"/>
          </a:solidFill>
          <a:ln w="1016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5330952" y="3685032"/>
            <a:ext cx="1591056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0">
                <a:solidFill>
                  <a:srgbClr val="111827"/>
                </a:solidFill>
                <a:latin typeface="Google Sans Flex"/>
              </a:rPr>
              <a:t>Future budgeted tier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7223760" y="3584448"/>
            <a:ext cx="1417320" cy="557784"/>
          </a:xfrm>
          <a:prstGeom prst="rect">
            <a:avLst/>
          </a:prstGeom>
          <a:solidFill>
            <a:srgbClr val="FFFFFF"/>
          </a:solidFill>
          <a:ln w="1016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7296912" y="3685032"/>
            <a:ext cx="1271016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0">
                <a:solidFill>
                  <a:srgbClr val="111827"/>
                </a:solidFill>
                <a:latin typeface="Google Sans Flex"/>
              </a:rPr>
              <a:t>ROADMAP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731520" y="4709160"/>
            <a:ext cx="77724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67085"/>
                </a:solidFill>
                <a:latin typeface="Google Sans Flex"/>
              </a:rPr>
              <a:t>No private data, no paid market-data key, and no live model call in the public default mode.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111827"/>
                </a:solidFill>
                <a:latin typeface="Google Sans Flex SemiBold"/>
              </a:rPr>
              <a:t>Snapshots of the prototype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36" name="TextBox 135"/>
          <p:cNvSpPr txBox="1"/>
          <p:nvPr/>
        </p:nvSpPr>
        <p:spPr>
          <a:xfrm>
            <a:off x="310896" y="1179576"/>
            <a:ext cx="845820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0">
                <a:solidFill>
                  <a:srgbClr val="667085"/>
                </a:solidFill>
                <a:latin typeface="Google Sans Flex"/>
              </a:rPr>
              <a:t>The public URL is working; the key workflow is visible without a live presentation.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566928" y="1719072"/>
            <a:ext cx="2395728" cy="2606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66928" y="1719072"/>
            <a:ext cx="2395728" cy="320040"/>
          </a:xfrm>
          <a:prstGeom prst="rect">
            <a:avLst/>
          </a:prstGeom>
          <a:solidFill>
            <a:srgbClr val="2454A6"/>
          </a:solidFill>
          <a:ln w="10160">
            <a:solidFill>
              <a:srgbClr val="245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731520" y="2212848"/>
            <a:ext cx="192024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Google Sans Flex"/>
              </a:rPr>
              <a:t>Discover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731520" y="2651760"/>
            <a:ext cx="2057400" cy="320040"/>
          </a:xfrm>
          <a:prstGeom prst="roundRect">
            <a:avLst/>
          </a:prstGeom>
          <a:solidFill>
            <a:srgbClr val="EAF1FF"/>
          </a:solidFill>
          <a:ln w="10160">
            <a:solidFill>
              <a:srgbClr val="EA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ounded Rectangle 140"/>
          <p:cNvSpPr/>
          <p:nvPr/>
        </p:nvSpPr>
        <p:spPr>
          <a:xfrm>
            <a:off x="731520" y="3127248"/>
            <a:ext cx="1600200" cy="228600"/>
          </a:xfrm>
          <a:prstGeom prst="roundRect">
            <a:avLst/>
          </a:prstGeom>
          <a:solidFill>
            <a:srgbClr val="F1F4F8"/>
          </a:solidFill>
          <a:ln w="10160">
            <a:solidFill>
              <a:srgbClr val="F1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ounded Rectangle 141"/>
          <p:cNvSpPr/>
          <p:nvPr/>
        </p:nvSpPr>
        <p:spPr>
          <a:xfrm>
            <a:off x="731520" y="3529584"/>
            <a:ext cx="1920240" cy="228600"/>
          </a:xfrm>
          <a:prstGeom prst="roundRect">
            <a:avLst/>
          </a:prstGeom>
          <a:solidFill>
            <a:srgbClr val="F1F4F8"/>
          </a:solidFill>
          <a:ln w="10160">
            <a:solidFill>
              <a:srgbClr val="F1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731520" y="3977639"/>
            <a:ext cx="192024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67085"/>
                </a:solidFill>
                <a:latin typeface="Google Sans Flex"/>
              </a:rPr>
              <a:t>KOL-first author feed
public source status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3310128" y="1719072"/>
            <a:ext cx="2395728" cy="2606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3310128" y="1719072"/>
            <a:ext cx="2395728" cy="320040"/>
          </a:xfrm>
          <a:prstGeom prst="rect">
            <a:avLst/>
          </a:prstGeom>
          <a:solidFill>
            <a:srgbClr val="0F766E"/>
          </a:solidFill>
          <a:ln w="1016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3474720" y="2212848"/>
            <a:ext cx="192024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Google Sans Flex"/>
              </a:rPr>
              <a:t>Signal Detail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3474720" y="2651760"/>
            <a:ext cx="2057400" cy="320040"/>
          </a:xfrm>
          <a:prstGeom prst="roundRect">
            <a:avLst/>
          </a:prstGeom>
          <a:solidFill>
            <a:srgbClr val="EAF1FF"/>
          </a:solidFill>
          <a:ln w="10160">
            <a:solidFill>
              <a:srgbClr val="EA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ounded Rectangle 147"/>
          <p:cNvSpPr/>
          <p:nvPr/>
        </p:nvSpPr>
        <p:spPr>
          <a:xfrm>
            <a:off x="3474720" y="3127248"/>
            <a:ext cx="1600200" cy="228600"/>
          </a:xfrm>
          <a:prstGeom prst="roundRect">
            <a:avLst/>
          </a:prstGeom>
          <a:solidFill>
            <a:srgbClr val="F1F4F8"/>
          </a:solidFill>
          <a:ln w="10160">
            <a:solidFill>
              <a:srgbClr val="F1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ounded Rectangle 148"/>
          <p:cNvSpPr/>
          <p:nvPr/>
        </p:nvSpPr>
        <p:spPr>
          <a:xfrm>
            <a:off x="3474720" y="3529584"/>
            <a:ext cx="1920240" cy="228600"/>
          </a:xfrm>
          <a:prstGeom prst="roundRect">
            <a:avLst/>
          </a:prstGeom>
          <a:solidFill>
            <a:srgbClr val="F1F4F8"/>
          </a:solidFill>
          <a:ln w="10160">
            <a:solidFill>
              <a:srgbClr val="F1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3474720" y="3977639"/>
            <a:ext cx="192024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67085"/>
                </a:solidFill>
                <a:latin typeface="Google Sans Flex"/>
              </a:rPr>
              <a:t>Original post +
context fields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6053328" y="1719072"/>
            <a:ext cx="2395728" cy="2606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053328" y="1719072"/>
            <a:ext cx="2395728" cy="320040"/>
          </a:xfrm>
          <a:prstGeom prst="rect">
            <a:avLst/>
          </a:prstGeom>
          <a:solidFill>
            <a:srgbClr val="9A5B00"/>
          </a:solidFill>
          <a:ln w="10160">
            <a:solidFill>
              <a:srgbClr val="9A5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6217920" y="2212848"/>
            <a:ext cx="192024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Google Sans Flex"/>
              </a:rPr>
              <a:t>Follower Impact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6217920" y="2651760"/>
            <a:ext cx="2057400" cy="320040"/>
          </a:xfrm>
          <a:prstGeom prst="roundRect">
            <a:avLst/>
          </a:prstGeom>
          <a:solidFill>
            <a:srgbClr val="EAF1FF"/>
          </a:solidFill>
          <a:ln w="10160">
            <a:solidFill>
              <a:srgbClr val="EA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ounded Rectangle 154"/>
          <p:cNvSpPr/>
          <p:nvPr/>
        </p:nvSpPr>
        <p:spPr>
          <a:xfrm>
            <a:off x="6217920" y="3127248"/>
            <a:ext cx="1600200" cy="228600"/>
          </a:xfrm>
          <a:prstGeom prst="roundRect">
            <a:avLst/>
          </a:prstGeom>
          <a:solidFill>
            <a:srgbClr val="F1F4F8"/>
          </a:solidFill>
          <a:ln w="10160">
            <a:solidFill>
              <a:srgbClr val="F1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ounded Rectangle 155"/>
          <p:cNvSpPr/>
          <p:nvPr/>
        </p:nvSpPr>
        <p:spPr>
          <a:xfrm>
            <a:off x="6217920" y="3529584"/>
            <a:ext cx="1920240" cy="228600"/>
          </a:xfrm>
          <a:prstGeom prst="roundRect">
            <a:avLst/>
          </a:prstGeom>
          <a:solidFill>
            <a:srgbClr val="F1F4F8"/>
          </a:solidFill>
          <a:ln w="10160">
            <a:solidFill>
              <a:srgbClr val="F1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6217920" y="3977639"/>
            <a:ext cx="192024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67085"/>
                </a:solidFill>
                <a:latin typeface="Google Sans Flex"/>
              </a:rPr>
              <a:t>Visible narrative vs
delayed path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731520" y="4983480"/>
            <a:ext cx="77724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2454A6"/>
                </a:solidFill>
                <a:latin typeface="Google Sans Flex"/>
              </a:rPr>
              <a:t>Live link: https://signalledger-ai-builder-cup.web.app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111827"/>
                </a:solidFill>
                <a:latin typeface="Google Sans Flex SemiBold"/>
              </a:rPr>
              <a:t>Prototype Performance report / Benchmarking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310896" y="1179576"/>
            <a:ext cx="845820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0">
                <a:solidFill>
                  <a:srgbClr val="667085"/>
                </a:solidFill>
                <a:latin typeface="Google Sans Flex"/>
              </a:rPr>
              <a:t>Measured on the deployed prototype before submission.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566928" y="1828800"/>
            <a:ext cx="182880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731520" y="2066543"/>
            <a:ext cx="1499616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500" b="1">
                <a:solidFill>
                  <a:srgbClr val="2454A6"/>
                </a:solidFill>
                <a:latin typeface="Google Sans Flex"/>
              </a:rPr>
              <a:t>200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731520" y="2670048"/>
            <a:ext cx="1499616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667085"/>
                </a:solidFill>
                <a:latin typeface="Google Sans Flex"/>
              </a:rPr>
              <a:t>Firebase home response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2743200" y="1828800"/>
            <a:ext cx="182880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2907792" y="2066543"/>
            <a:ext cx="1499616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500" b="1">
                <a:solidFill>
                  <a:srgbClr val="0F766E"/>
                </a:solidFill>
                <a:latin typeface="Google Sans Flex"/>
              </a:rPr>
              <a:t>200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2907792" y="2670048"/>
            <a:ext cx="1499616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667085"/>
                </a:solidFill>
                <a:latin typeface="Google Sans Flex"/>
              </a:rPr>
              <a:t>Public author feed API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4919472" y="1828800"/>
            <a:ext cx="182880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5084064" y="2066543"/>
            <a:ext cx="1499616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500" b="1">
                <a:solidFill>
                  <a:srgbClr val="9A5B00"/>
                </a:solidFill>
                <a:latin typeface="Google Sans Flex"/>
              </a:rPr>
              <a:t>200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084064" y="2670048"/>
            <a:ext cx="1499616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667085"/>
                </a:solidFill>
                <a:latin typeface="Google Sans Flex"/>
              </a:rPr>
              <a:t>Market snapshot API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7095744" y="1828800"/>
            <a:ext cx="182880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7260336" y="2066543"/>
            <a:ext cx="1499616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500" b="1">
                <a:solidFill>
                  <a:srgbClr val="B42318"/>
                </a:solidFill>
                <a:latin typeface="Google Sans Flex"/>
              </a:rPr>
              <a:t>7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260336" y="2670048"/>
            <a:ext cx="1499616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667085"/>
                </a:solidFill>
                <a:latin typeface="Google Sans Flex"/>
              </a:rPr>
              <a:t>Author cards after feed load</a:t>
            </a:r>
          </a:p>
        </p:txBody>
      </p:sp>
      <p:sp>
        <p:nvSpPr>
          <p:cNvPr id="157" name="Oval 156"/>
          <p:cNvSpPr/>
          <p:nvPr/>
        </p:nvSpPr>
        <p:spPr>
          <a:xfrm>
            <a:off x="749808" y="3822191"/>
            <a:ext cx="73152" cy="73152"/>
          </a:xfrm>
          <a:prstGeom prst="ellipse">
            <a:avLst/>
          </a:prstGeom>
          <a:solidFill>
            <a:srgbClr val="2454A6"/>
          </a:solidFill>
          <a:ln>
            <a:solidFill>
              <a:srgbClr val="245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914400" y="3749039"/>
            <a:ext cx="6967728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Google Sans Flex"/>
              </a:rPr>
              <a:t>Cloud Run: min 0, max 1, 256 MiB, request-based CPU throttling.</a:t>
            </a:r>
          </a:p>
        </p:txBody>
      </p:sp>
      <p:sp>
        <p:nvSpPr>
          <p:cNvPr id="159" name="Oval 158"/>
          <p:cNvSpPr/>
          <p:nvPr/>
        </p:nvSpPr>
        <p:spPr>
          <a:xfrm>
            <a:off x="749808" y="4261104"/>
            <a:ext cx="73152" cy="73152"/>
          </a:xfrm>
          <a:prstGeom prst="ellipse">
            <a:avLst/>
          </a:prstGeom>
          <a:solidFill>
            <a:srgbClr val="2454A6"/>
          </a:solidFill>
          <a:ln>
            <a:solidFill>
              <a:srgbClr val="245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914400" y="4187952"/>
            <a:ext cx="6967728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Google Sans Flex"/>
              </a:rPr>
              <a:t>Public RSS items keep source URLs; unavailable feeds fall back without breaking the app.</a:t>
            </a:r>
          </a:p>
        </p:txBody>
      </p:sp>
      <p:sp>
        <p:nvSpPr>
          <p:cNvPr id="161" name="Oval 160"/>
          <p:cNvSpPr/>
          <p:nvPr/>
        </p:nvSpPr>
        <p:spPr>
          <a:xfrm>
            <a:off x="749808" y="4700016"/>
            <a:ext cx="73152" cy="73152"/>
          </a:xfrm>
          <a:prstGeom prst="ellipse">
            <a:avLst/>
          </a:prstGeom>
          <a:solidFill>
            <a:srgbClr val="2454A6"/>
          </a:solidFill>
          <a:ln>
            <a:solidFill>
              <a:srgbClr val="245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914400" y="4626864"/>
            <a:ext cx="6967728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Google Sans Flex"/>
              </a:rPr>
              <a:t>DOM interaction smoke test: filters, search, profile navigation, and signal detail navigation passed.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111827"/>
                </a:solidFill>
                <a:latin typeface="Google Sans Flex SemiBold"/>
              </a:rPr>
              <a:t>Additional Details / Future Development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52" name="TextBox 151"/>
          <p:cNvSpPr txBox="1"/>
          <p:nvPr/>
        </p:nvSpPr>
        <p:spPr>
          <a:xfrm>
            <a:off x="310896" y="1179576"/>
            <a:ext cx="845820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0">
                <a:solidFill>
                  <a:srgbClr val="667085"/>
                </a:solidFill>
                <a:latin typeface="Google Sans Flex"/>
              </a:rPr>
              <a:t>The prototype is intentionally narrow; the moat compounds with authorized longitudinal data.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566928" y="1691640"/>
            <a:ext cx="3749039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ounded Rectangle 153"/>
          <p:cNvSpPr/>
          <p:nvPr/>
        </p:nvSpPr>
        <p:spPr>
          <a:xfrm>
            <a:off x="731520" y="1856232"/>
            <a:ext cx="438912" cy="274320"/>
          </a:xfrm>
          <a:prstGeom prst="roundRect">
            <a:avLst/>
          </a:prstGeom>
          <a:solidFill>
            <a:srgbClr val="EAF1FF"/>
          </a:solidFill>
          <a:ln w="10160">
            <a:solidFill>
              <a:srgbClr val="EA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768096" y="1892808"/>
            <a:ext cx="365759" cy="1737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1">
                <a:solidFill>
                  <a:srgbClr val="2454A6"/>
                </a:solidFill>
                <a:latin typeface="Google Sans Flex"/>
              </a:rPr>
              <a:t>01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344168" y="1874520"/>
            <a:ext cx="256032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Google Sans Flex"/>
              </a:rPr>
              <a:t>Live Gemini extraction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749808" y="2286000"/>
            <a:ext cx="329184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80" b="0">
                <a:solidFill>
                  <a:srgbClr val="667085"/>
                </a:solidFill>
                <a:latin typeface="Google Sans Flex"/>
              </a:rPr>
              <a:t>Enable multimodal text + screenshot extraction when a budget is approved.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4818888" y="1691640"/>
            <a:ext cx="3749039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ounded Rectangle 158"/>
          <p:cNvSpPr/>
          <p:nvPr/>
        </p:nvSpPr>
        <p:spPr>
          <a:xfrm>
            <a:off x="4983480" y="1856232"/>
            <a:ext cx="438912" cy="274320"/>
          </a:xfrm>
          <a:prstGeom prst="roundRect">
            <a:avLst/>
          </a:prstGeom>
          <a:solidFill>
            <a:srgbClr val="EAF1FF"/>
          </a:solidFill>
          <a:ln w="10160">
            <a:solidFill>
              <a:srgbClr val="EA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5020056" y="1892808"/>
            <a:ext cx="365759" cy="1737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1">
                <a:solidFill>
                  <a:srgbClr val="2454A6"/>
                </a:solidFill>
                <a:latin typeface="Google Sans Flex"/>
              </a:rPr>
              <a:t>02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5596128" y="1874520"/>
            <a:ext cx="256032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Google Sans Flex"/>
              </a:rPr>
              <a:t>Licensed platform connectors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5001768" y="2286000"/>
            <a:ext cx="329184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80" b="0">
                <a:solidFill>
                  <a:srgbClr val="667085"/>
                </a:solidFill>
                <a:latin typeface="Google Sans Flex"/>
              </a:rPr>
              <a:t>Add authorized broker/community integrations instead of scraping restricted platforms.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566928" y="3172968"/>
            <a:ext cx="3749039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ounded Rectangle 163"/>
          <p:cNvSpPr/>
          <p:nvPr/>
        </p:nvSpPr>
        <p:spPr>
          <a:xfrm>
            <a:off x="731520" y="3337560"/>
            <a:ext cx="438912" cy="274320"/>
          </a:xfrm>
          <a:prstGeom prst="roundRect">
            <a:avLst/>
          </a:prstGeom>
          <a:solidFill>
            <a:srgbClr val="EAF1FF"/>
          </a:solidFill>
          <a:ln w="10160">
            <a:solidFill>
              <a:srgbClr val="EA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768096" y="3374136"/>
            <a:ext cx="365759" cy="1737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1">
                <a:solidFill>
                  <a:srgbClr val="2454A6"/>
                </a:solidFill>
                <a:latin typeface="Google Sans Flex"/>
              </a:rPr>
              <a:t>03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344168" y="3355848"/>
            <a:ext cx="256032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Google Sans Flex"/>
              </a:rPr>
              <a:t>Longitudinal graph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749808" y="3767328"/>
            <a:ext cx="329184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80" b="0">
                <a:solidFill>
                  <a:srgbClr val="667085"/>
                </a:solidFill>
                <a:latin typeface="Google Sans Flex"/>
              </a:rPr>
              <a:t>Firestore + BigQuery for author history, corrections, and follower scenarios.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4818888" y="3172968"/>
            <a:ext cx="3749039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ounded Rectangle 168"/>
          <p:cNvSpPr/>
          <p:nvPr/>
        </p:nvSpPr>
        <p:spPr>
          <a:xfrm>
            <a:off x="4983480" y="3337560"/>
            <a:ext cx="438912" cy="274320"/>
          </a:xfrm>
          <a:prstGeom prst="roundRect">
            <a:avLst/>
          </a:prstGeom>
          <a:solidFill>
            <a:srgbClr val="EAF1FF"/>
          </a:solidFill>
          <a:ln w="10160">
            <a:solidFill>
              <a:srgbClr val="EA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5020056" y="3374136"/>
            <a:ext cx="365759" cy="1737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1">
                <a:solidFill>
                  <a:srgbClr val="2454A6"/>
                </a:solidFill>
                <a:latin typeface="Google Sans Flex"/>
              </a:rPr>
              <a:t>04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5596128" y="3355848"/>
            <a:ext cx="256032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Google Sans Flex"/>
              </a:rPr>
              <a:t>User trust controls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5001768" y="3767328"/>
            <a:ext cx="329184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80" b="0">
                <a:solidFill>
                  <a:srgbClr val="667085"/>
                </a:solidFill>
                <a:latin typeface="Google Sans Flex"/>
              </a:rPr>
              <a:t>Following lists, source confidence, report flow, and transparent appeals.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6"/>
          <p:cNvSpPr txBox="1"/>
          <p:nvPr/>
        </p:nvSpPr>
        <p:spPr>
          <a:xfrm>
            <a:off x="265350" y="663825"/>
            <a:ext cx="8943000" cy="13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111827"/>
                </a:solidFill>
                <a:latin typeface="Google Sans Flex SemiBold"/>
              </a:rPr>
              <a:t>Provide links to your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60" name="TextBox 159"/>
          <p:cNvSpPr txBox="1"/>
          <p:nvPr/>
        </p:nvSpPr>
        <p:spPr>
          <a:xfrm>
            <a:off x="310896" y="1179576"/>
            <a:ext cx="845820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0">
                <a:solidFill>
                  <a:srgbClr val="667085"/>
                </a:solidFill>
                <a:latin typeface="Google Sans Flex"/>
              </a:rPr>
              <a:t>All core links are live. Add the final video URL after recording.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640080" y="1691640"/>
            <a:ext cx="786384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ounded Rectangle 161"/>
          <p:cNvSpPr/>
          <p:nvPr/>
        </p:nvSpPr>
        <p:spPr>
          <a:xfrm>
            <a:off x="868680" y="1883664"/>
            <a:ext cx="438912" cy="274320"/>
          </a:xfrm>
          <a:prstGeom prst="roundRect">
            <a:avLst/>
          </a:prstGeom>
          <a:solidFill>
            <a:srgbClr val="EAF1FF"/>
          </a:solidFill>
          <a:ln w="10160">
            <a:solidFill>
              <a:srgbClr val="EA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905256" y="1920240"/>
            <a:ext cx="365759" cy="1737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1">
                <a:solidFill>
                  <a:srgbClr val="2454A6"/>
                </a:solidFill>
                <a:latin typeface="Google Sans Flex"/>
              </a:rPr>
              <a:t>01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554480" y="1801368"/>
            <a:ext cx="224028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Google Sans Flex"/>
              </a:rPr>
              <a:t>GitHub Public Repository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3840480" y="1801368"/>
            <a:ext cx="429768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454A6"/>
                </a:solidFill>
                <a:latin typeface="Google Sans Flex"/>
              </a:rPr>
              <a:t>https://github.com/vzzzzzzz17/signalledger-ai-builder-cup-2026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640080" y="2624328"/>
            <a:ext cx="786384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ounded Rectangle 166"/>
          <p:cNvSpPr/>
          <p:nvPr/>
        </p:nvSpPr>
        <p:spPr>
          <a:xfrm>
            <a:off x="868680" y="2816352"/>
            <a:ext cx="438912" cy="274320"/>
          </a:xfrm>
          <a:prstGeom prst="roundRect">
            <a:avLst/>
          </a:prstGeom>
          <a:solidFill>
            <a:srgbClr val="FFF5D9"/>
          </a:solidFill>
          <a:ln w="10160">
            <a:solidFill>
              <a:srgbClr val="FFF5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905256" y="2852928"/>
            <a:ext cx="365759" cy="1737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1">
                <a:solidFill>
                  <a:srgbClr val="9A5B00"/>
                </a:solidFill>
                <a:latin typeface="Google Sans Flex"/>
              </a:rPr>
              <a:t>02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554480" y="2734056"/>
            <a:ext cx="224028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Google Sans Flex"/>
              </a:rPr>
              <a:t>Demo Video Link (3 Minutes)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3840480" y="2734056"/>
            <a:ext cx="429768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9A5B00"/>
                </a:solidFill>
                <a:latin typeface="Google Sans Flex"/>
              </a:rPr>
              <a:t>[ADD FINAL VIDEO LINK]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640080" y="3557016"/>
            <a:ext cx="786384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ounded Rectangle 171"/>
          <p:cNvSpPr/>
          <p:nvPr/>
        </p:nvSpPr>
        <p:spPr>
          <a:xfrm>
            <a:off x="868680" y="3749040"/>
            <a:ext cx="438912" cy="274320"/>
          </a:xfrm>
          <a:prstGeom prst="roundRect">
            <a:avLst/>
          </a:prstGeom>
          <a:solidFill>
            <a:srgbClr val="E7F7F2"/>
          </a:solidFill>
          <a:ln w="10160">
            <a:solidFill>
              <a:srgbClr val="E7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905256" y="3785616"/>
            <a:ext cx="365759" cy="1737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1">
                <a:solidFill>
                  <a:srgbClr val="0F766E"/>
                </a:solidFill>
                <a:latin typeface="Google Sans Flex"/>
              </a:rPr>
              <a:t>03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554480" y="3666744"/>
            <a:ext cx="224028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Google Sans Flex"/>
              </a:rPr>
              <a:t>Final Product Link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3840480" y="3666744"/>
            <a:ext cx="429768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Google Sans Flex"/>
              </a:rPr>
              <a:t>https://signalledger-ai-builder-cup.web.app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31520" y="4846320"/>
            <a:ext cx="77724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67085"/>
                </a:solidFill>
                <a:latin typeface="Google Sans Flex"/>
              </a:rPr>
              <a:t>SignalLedger does not provide investment advice or price predictions.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