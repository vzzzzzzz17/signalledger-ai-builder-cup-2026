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latin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Bef>
                <a:spcPts val="800"/>
              </a:spcBef>
            </a:pPr>
            <a:r>
              <a:rPr sz="1400" b="0">
                <a:latin typeface="Google Sans Flex"/>
              </a:rPr>
              <a:t>Team name: SignalLedger</a:t>
            </a:r>
          </a:p>
          <a:p>
            <a:pPr>
              <a:spcBef>
                <a:spcPts val="800"/>
              </a:spcBef>
            </a:pPr>
            <a:r>
              <a:rPr sz="1400" b="0">
                <a:latin typeface="Google Sans Flex"/>
              </a:rPr>
              <a:t>Team leader name: Zhngwei</a:t>
            </a:r>
          </a:p>
          <a:p>
            <a:pPr>
              <a:spcBef>
                <a:spcPts val="800"/>
              </a:spcBef>
            </a:pPr>
            <a:r>
              <a:rPr sz="1400" b="0">
                <a:latin typeface="Google Sans Flex"/>
              </a:rPr>
              <a:t>Team member: Jiaoyi Chen</a:t>
            </a:r>
          </a:p>
          <a:p>
            <a:pPr>
              <a:spcBef>
                <a:spcPts val="800"/>
              </a:spcBef>
            </a:pPr>
            <a:r>
              <a:rPr sz="1400" b="0">
                <a:latin typeface="Google Sans Flex"/>
              </a:rPr>
              <a:t>Problem Statement: Social trading lacks durable context, and an author's visible result is often not a follower's realized result.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 KOL-first context layer for trading communities.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0" y="1737360"/>
            <a:ext cx="3931920" cy="2697480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13232" y="2057400"/>
            <a:ext cx="201168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B1C9EB"/>
                </a:solidFill>
                <a:latin typeface="Google Sans Flex"/>
              </a:rPr>
              <a:t>SIGNALLEDGER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" y="2487168"/>
            <a:ext cx="3063240" cy="7680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Google Sans Flex"/>
              </a:rPr>
              <a:t>Follow the people shaping the market conversation.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3493008"/>
            <a:ext cx="306324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C4D1E5"/>
                </a:solidFill>
                <a:latin typeface="Google Sans Flex"/>
              </a:rPr>
              <a:t>Users browse public authors. SignalLedger preserves what was said, adds professional context, and makes follower impact visible.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709160" y="1737360"/>
            <a:ext cx="1874519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855464" y="1901952"/>
            <a:ext cx="1234440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92040" y="1938528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CLAIM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73752" y="2395728"/>
            <a:ext cx="15453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What did the author actually say?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737360"/>
            <a:ext cx="1874519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958584" y="1901952"/>
            <a:ext cx="1234440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995160" y="1938528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QUALITY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976872" y="2395728"/>
            <a:ext cx="15453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Was evidence and downside context present?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709160" y="3246120"/>
            <a:ext cx="1874519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855464" y="3410712"/>
            <a:ext cx="1234440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892040" y="3447288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IMPACT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73752" y="3904487"/>
            <a:ext cx="15453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Could a delayed follower reproduce the result?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812280" y="3246120"/>
            <a:ext cx="1874519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958584" y="3410712"/>
            <a:ext cx="1234440" cy="274320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FFF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995160" y="3447288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B42318"/>
                </a:solidFill>
                <a:latin typeface="Google Sans Flex"/>
              </a:rPr>
              <a:t>FAIRNESS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76872" y="3904487"/>
            <a:ext cx="15453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Can an author add context without rewriting history?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 large information problem sits between social discovery and responsible action.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11480" y="1627632"/>
            <a:ext cx="265176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557784" y="1792224"/>
            <a:ext cx="1234440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4360" y="1828800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DIFFERENT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6072" y="2286000"/>
            <a:ext cx="2322576" cy="16459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Most trading products optimize for speed, engagement, or prediction. SignalLedger optimizes for durable context around the people influencing decisions.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246120" y="1627632"/>
            <a:ext cx="265176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392424" y="1792224"/>
            <a:ext cx="1234440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429000" y="1828800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PROBLEM FIT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10712" y="2286000"/>
            <a:ext cx="2322576" cy="16459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Users already follow authors across broker communities, X, newsletters, podcasts, and crypto feeds. The record is fragmented.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080760" y="1627632"/>
            <a:ext cx="265176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227064" y="1792224"/>
            <a:ext cx="1234440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63640" y="1828800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USP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45352" y="2286000"/>
            <a:ext cx="2322576" cy="16459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The author's visible result is separated from a realistic follower path, with source links and explainable labels.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11480" y="4389120"/>
            <a:ext cx="8321040" cy="5029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0080" y="4544568"/>
            <a:ext cx="78638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454A6"/>
                </a:solidFill>
                <a:latin typeface="Google Sans Flex"/>
              </a:rPr>
              <a:t>Moat: a longitudinal, cross-source accountability graph — not another generic AI score.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 community workflow with a professional context layer beside it.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11480" y="1600200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548640" y="1737360"/>
            <a:ext cx="384048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85216" y="1773936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9848" y="1755648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KOL-first Discover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76072" y="2130552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Auto-loaded author feed with search, market filters, public-source labels.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227832" y="1600200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364992" y="1737360"/>
            <a:ext cx="384048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01568" y="1773936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02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886200" y="1755648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Context Card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392424" y="2130552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Original wording, asset, direction, horizon, risk disclosure, evidence quality.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044184" y="1600200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6181344" y="1737360"/>
            <a:ext cx="384048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217920" y="1773936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03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702552" y="1755648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Follower Impact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08776" y="2130552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Visible narrative versus delayed-entry scenario and maximum pain.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11480" y="3035808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548640" y="3172968"/>
            <a:ext cx="384048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85216" y="3209544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69848" y="3191256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Author Profile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6072" y="3566160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Disclosure habits, promotional pressure, correction behavior, follower gap.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227832" y="3035808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3364992" y="3172968"/>
            <a:ext cx="384048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01568" y="3209544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05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886200" y="3191256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Source Traceability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392424" y="3566160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Public RSS/article links, delayed market snapshots, cached fallback state.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044184" y="3035808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6181344" y="3172968"/>
            <a:ext cx="384048" cy="274320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FFF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217920" y="3209544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B42318"/>
                </a:solidFill>
                <a:latin typeface="Google Sans Flex"/>
              </a:rPr>
              <a:t>06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702552" y="3191256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Fairness Flow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208776" y="3566160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Author additions and corrections saved as new versions.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Process flow diagram /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From an author's public post to a durable context record.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84048" y="2011680"/>
            <a:ext cx="1389888" cy="1298448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3776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54A6"/>
                </a:solidFill>
                <a:latin typeface="Google Sans Flex"/>
              </a:rPr>
              <a:t>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93776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Discover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3776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Follow an author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2660904"/>
            <a:ext cx="256032" cy="0"/>
          </a:xfrm>
          <a:prstGeom prst="line">
            <a:avLst/>
          </a:prstGeom>
          <a:ln w="15240"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121408" y="2011680"/>
            <a:ext cx="1389888" cy="1298448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231136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Google Sans Flex"/>
              </a:rPr>
              <a:t>02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231136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Capture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231136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Preserve source + time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3538728" y="2660904"/>
            <a:ext cx="256032" cy="0"/>
          </a:xfrm>
          <a:prstGeom prst="line">
            <a:avLst/>
          </a:prstGeom>
          <a:ln w="15240"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3858768" y="2011680"/>
            <a:ext cx="1389888" cy="1298448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9A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968496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9A5B00"/>
                </a:solidFill>
                <a:latin typeface="Google Sans Flex"/>
              </a:rPr>
              <a:t>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68496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Structure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968496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Extract context fields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5276088" y="2660904"/>
            <a:ext cx="256032" cy="0"/>
          </a:xfrm>
          <a:prstGeom prst="line">
            <a:avLst/>
          </a:prstGeom>
          <a:ln w="15240"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ounded Rectangle 111"/>
          <p:cNvSpPr/>
          <p:nvPr/>
        </p:nvSpPr>
        <p:spPr>
          <a:xfrm>
            <a:off x="5596127" y="2011680"/>
            <a:ext cx="1389888" cy="1298448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705855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B42318"/>
                </a:solidFill>
                <a:latin typeface="Google Sans Flex"/>
              </a:rPr>
              <a:t>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705855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Compare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705855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Model follower path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7013447" y="2660904"/>
            <a:ext cx="256032" cy="0"/>
          </a:xfrm>
          <a:prstGeom prst="line">
            <a:avLst/>
          </a:prstGeom>
          <a:ln w="15240"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7333488" y="2011680"/>
            <a:ext cx="1389888" cy="1298448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443215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54A6"/>
                </a:solidFill>
                <a:latin typeface="Google Sans Flex"/>
              </a:rPr>
              <a:t>05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443215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Correct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43215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Add context as version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14400" y="4297680"/>
            <a:ext cx="7315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  <a:latin typeface="Google Sans Flex"/>
              </a:rPr>
              <a:t>User question: “Can I understand this author before I act on the post?”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The first screen is a community feed, not an empty dashboard.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02920" y="1417320"/>
            <a:ext cx="8138160" cy="3337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02920" y="1417320"/>
            <a:ext cx="1280160" cy="3337560"/>
          </a:xfrm>
          <a:prstGeom prst="rect">
            <a:avLst/>
          </a:prstGeom>
          <a:solidFill>
            <a:srgbClr val="FAFBFD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13232" y="1719072"/>
            <a:ext cx="868680" cy="2011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Google Sans Flex"/>
              </a:rPr>
              <a:t>SL
Discover
Signal Detail
Follower Impact
Author Profile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57400" y="1700784"/>
            <a:ext cx="283464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>
                <a:solidFill>
                  <a:srgbClr val="2454A6"/>
                </a:solidFill>
                <a:latin typeface="Google Sans Flex"/>
              </a:rPr>
              <a:t>AUTHORS WORTH WATCHING TODAY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011680" y="2121408"/>
            <a:ext cx="3886200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2148840" y="2249424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185416" y="2286000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BA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743200" y="2231136"/>
            <a:ext cx="123444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>
                <a:solidFill>
                  <a:srgbClr val="111827"/>
                </a:solidFill>
                <a:latin typeface="Google Sans Flex"/>
              </a:rPr>
              <a:t>Barry Ritholtz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041648" y="2231136"/>
            <a:ext cx="155448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7085"/>
                </a:solidFill>
                <a:latin typeface="Google Sans Flex"/>
              </a:rPr>
              <a:t>Public source / scenario context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011680" y="2807208"/>
            <a:ext cx="3886200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2148840" y="2935224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185416" y="2971800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BE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743200" y="2916936"/>
            <a:ext cx="123444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>
                <a:solidFill>
                  <a:srgbClr val="111827"/>
                </a:solidFill>
                <a:latin typeface="Google Sans Flex"/>
              </a:rPr>
              <a:t>Ben Carlson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041648" y="2916936"/>
            <a:ext cx="155448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7085"/>
                </a:solidFill>
                <a:latin typeface="Google Sans Flex"/>
              </a:rPr>
              <a:t>Public source / scenario context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011680" y="3493008"/>
            <a:ext cx="3886200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2148840" y="3621024"/>
            <a:ext cx="438912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185416" y="3657600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HY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743200" y="3602736"/>
            <a:ext cx="123444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>
                <a:solidFill>
                  <a:srgbClr val="111827"/>
                </a:solidFill>
                <a:latin typeface="Google Sans Flex"/>
              </a:rPr>
              <a:t>HypeMax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41648" y="3602736"/>
            <a:ext cx="155448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7085"/>
                </a:solidFill>
                <a:latin typeface="Google Sans Flex"/>
              </a:rPr>
              <a:t>Public source / scenario context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217920" y="1691640"/>
            <a:ext cx="2011680" cy="2578608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473952" y="1938528"/>
            <a:ext cx="1417320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B1C9EB"/>
                </a:solidFill>
                <a:latin typeface="Google Sans Flex"/>
              </a:rPr>
              <a:t>SELECTED AUTHOR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73952" y="2304288"/>
            <a:ext cx="13716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oogle Sans Flex"/>
              </a:rPr>
              <a:t>Context at a glance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73952" y="3017520"/>
            <a:ext cx="13898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4D1E5"/>
                </a:solidFill>
                <a:latin typeface="Google Sans Flex"/>
              </a:rPr>
              <a:t>Risk disclosure
Source link
Follower impact
Add context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40080" y="5074920"/>
            <a:ext cx="80467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Prototype is live at signalledger-ai-builder-cup.web.app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Firebase Hosting serves the app; Cloud Run keeps data and model access behind an API.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94360" y="2084831"/>
            <a:ext cx="1828800" cy="11887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31520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2454A6"/>
                </a:solidFill>
                <a:latin typeface="Google Sans Flex"/>
              </a:rPr>
              <a:t>Firebase Hosting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31520" y="2697480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KOL-first web app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926080" y="2084831"/>
            <a:ext cx="1828800" cy="11887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063240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F766E"/>
                </a:solidFill>
                <a:latin typeface="Google Sans Flex"/>
              </a:rPr>
              <a:t>Cloud Run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063240" y="2697480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API + cache
min 0 / max 1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257800" y="2084831"/>
            <a:ext cx="1828800" cy="11887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9A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94960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9A5B00"/>
                </a:solidFill>
                <a:latin typeface="Google Sans Flex"/>
              </a:rPr>
              <a:t>Public sources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2697480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Nasdaq · CoinGecko
RSS authors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589520" y="2084831"/>
            <a:ext cx="1828800" cy="1188720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726680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B42318"/>
                </a:solidFill>
                <a:latin typeface="Google Sans Flex"/>
              </a:rPr>
              <a:t>Gemini / Vertex AI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726680" y="2697480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Opt-in extraction
not default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2487168" y="2670048"/>
            <a:ext cx="365760" cy="0"/>
          </a:xfrm>
          <a:prstGeom prst="line">
            <a:avLst/>
          </a:prstGeom>
          <a:ln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4818888" y="2670048"/>
            <a:ext cx="365760" cy="0"/>
          </a:xfrm>
          <a:prstGeom prst="line">
            <a:avLst/>
          </a:prstGeom>
          <a:ln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7150608" y="2670048"/>
            <a:ext cx="365760" cy="0"/>
          </a:xfrm>
          <a:prstGeom prst="line">
            <a:avLst/>
          </a:prstGeom>
          <a:ln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ounded Rectangle 127"/>
          <p:cNvSpPr/>
          <p:nvPr/>
        </p:nvSpPr>
        <p:spPr>
          <a:xfrm>
            <a:off x="1325880" y="3977639"/>
            <a:ext cx="6629400" cy="621792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508760" y="4187952"/>
            <a:ext cx="62636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Versioned context records  →  author graph  →  follower-impact scenarios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14400" y="4983480"/>
            <a:ext cx="740664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Default public deployment disables live model calls to keep the Demo within zero-model-cost mode.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The prototype is deployed and the production path is intentionally modular.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66928" y="1874519"/>
            <a:ext cx="1828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749808" y="2084831"/>
            <a:ext cx="1463040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86384" y="2121408"/>
            <a:ext cx="13898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Frontend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9808" y="2670048"/>
            <a:ext cx="146304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11827"/>
                </a:solidFill>
                <a:latin typeface="Google Sans Flex"/>
              </a:rPr>
              <a:t>HTML · CSS · JavaScript
Firebase Hosting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743200" y="1874519"/>
            <a:ext cx="1828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2926080" y="2084831"/>
            <a:ext cx="1463040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962656" y="2121408"/>
            <a:ext cx="13898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API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26080" y="2670048"/>
            <a:ext cx="146304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11827"/>
                </a:solidFill>
                <a:latin typeface="Google Sans Flex"/>
              </a:rPr>
              <a:t>Node.js · Cloud Run
Public-source cache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919472" y="1874519"/>
            <a:ext cx="1828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5102352" y="2084831"/>
            <a:ext cx="1463040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38928" y="2121408"/>
            <a:ext cx="13898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AI path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02352" y="2670048"/>
            <a:ext cx="146304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11827"/>
                </a:solidFill>
                <a:latin typeface="Google Sans Flex"/>
              </a:rPr>
              <a:t>Gemini / Vertex AI
Structured JSON extraction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095744" y="1874519"/>
            <a:ext cx="1828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278624" y="2084831"/>
            <a:ext cx="1463040" cy="274320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FFF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315200" y="2121408"/>
            <a:ext cx="13898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B42318"/>
                </a:solidFill>
                <a:latin typeface="Google Sans Flex"/>
              </a:rPr>
              <a:t>Data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278624" y="2670048"/>
            <a:ext cx="146304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11827"/>
                </a:solidFill>
                <a:latin typeface="Google Sans Flex"/>
              </a:rPr>
              <a:t>Nasdaq · CoinGecko
RSS + Firestore roadmap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66928" y="3977639"/>
            <a:ext cx="8193024" cy="658368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22960" y="4206240"/>
            <a:ext cx="768096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F766E"/>
                </a:solidFill>
                <a:latin typeface="Google Sans Flex"/>
              </a:rPr>
              <a:t>Google Cloud services are used for deployment, API isolation, caching, and the opt-in AI path.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 cost-safe public Demo with a clear switch for live model usage.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94360" y="1783080"/>
            <a:ext cx="1143000" cy="438912"/>
          </a:xfrm>
          <a:prstGeom prst="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67512" y="1920240"/>
            <a:ext cx="996696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oogle Sans Flex"/>
              </a:rPr>
              <a:t>Mode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965960" y="1783080"/>
            <a:ext cx="3017520" cy="438912"/>
          </a:xfrm>
          <a:prstGeom prst="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039112" y="1920240"/>
            <a:ext cx="2871215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oogle Sans Flex"/>
              </a:rPr>
              <a:t>What runs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257800" y="1783080"/>
            <a:ext cx="1737360" cy="438912"/>
          </a:xfrm>
          <a:prstGeom prst="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330952" y="1920240"/>
            <a:ext cx="1591056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oogle Sans Flex"/>
              </a:rPr>
              <a:t>Cost posture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223760" y="1783080"/>
            <a:ext cx="1417320" cy="438912"/>
          </a:xfrm>
          <a:prstGeom prst="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296912" y="1920240"/>
            <a:ext cx="1271016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oogle Sans Flex"/>
              </a:rPr>
              <a:t>Status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94360" y="2267712"/>
            <a:ext cx="114300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67512" y="2368296"/>
            <a:ext cx="99669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Demo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965960" y="2267712"/>
            <a:ext cx="30175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039112" y="2368296"/>
            <a:ext cx="2871215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Firebase + Cloud Run min 0
Offline context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257800" y="2267712"/>
            <a:ext cx="173736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330952" y="2368296"/>
            <a:ext cx="159105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Designed for free usage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223760" y="2267712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296912" y="2368296"/>
            <a:ext cx="127101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0F766E"/>
                </a:solidFill>
                <a:latin typeface="Google Sans Flex"/>
              </a:rPr>
              <a:t>DEPLOYED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594360" y="2926080"/>
            <a:ext cx="114300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67512" y="3026664"/>
            <a:ext cx="99669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Live AI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965960" y="2926080"/>
            <a:ext cx="30175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039112" y="3026664"/>
            <a:ext cx="2871215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Vertex AI Gemini extraction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257800" y="2926080"/>
            <a:ext cx="173736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330952" y="3026664"/>
            <a:ext cx="159105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Usage-based; opt-in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223760" y="2926080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7296912" y="3026664"/>
            <a:ext cx="127101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0F766E"/>
                </a:solidFill>
                <a:latin typeface="Google Sans Flex"/>
              </a:rPr>
              <a:t>READY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94360" y="3584448"/>
            <a:ext cx="114300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67512" y="3685032"/>
            <a:ext cx="99669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Scale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965960" y="3584448"/>
            <a:ext cx="30175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039112" y="3685032"/>
            <a:ext cx="2871215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Firestore + BigQuery
licensed sources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5257800" y="3584448"/>
            <a:ext cx="173736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5330952" y="3685032"/>
            <a:ext cx="159105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Future budgeted tier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223760" y="3584448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296912" y="3685032"/>
            <a:ext cx="127101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ROADMAP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31520" y="4709160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667085"/>
                </a:solidFill>
                <a:latin typeface="Google Sans Flex"/>
              </a:rPr>
              <a:t>No private data, no paid market-data key, and no live model call in the public default mode.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The public URL is working; the key workflow is visible without a live presentation.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66928" y="1719072"/>
            <a:ext cx="2395728" cy="2606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66928" y="1719072"/>
            <a:ext cx="2395728" cy="320040"/>
          </a:xfrm>
          <a:prstGeom prst="rect">
            <a:avLst/>
          </a:prstGeom>
          <a:solidFill>
            <a:srgbClr val="2454A6"/>
          </a:solidFill>
          <a:ln w="10160"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31520" y="2212848"/>
            <a:ext cx="192024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Discover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731520" y="2651760"/>
            <a:ext cx="2057400" cy="32004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731520" y="3127248"/>
            <a:ext cx="160020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731520" y="3529584"/>
            <a:ext cx="192024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31520" y="3977639"/>
            <a:ext cx="19202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KOL-first author feed
public source status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310128" y="1719072"/>
            <a:ext cx="2395728" cy="2606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310128" y="1719072"/>
            <a:ext cx="2395728" cy="320040"/>
          </a:xfrm>
          <a:prstGeom prst="rect">
            <a:avLst/>
          </a:prstGeom>
          <a:solidFill>
            <a:srgbClr val="0F766E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474720" y="2212848"/>
            <a:ext cx="192024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Signal Detail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474720" y="2651760"/>
            <a:ext cx="2057400" cy="32004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3474720" y="3127248"/>
            <a:ext cx="160020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3474720" y="3529584"/>
            <a:ext cx="192024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474720" y="3977639"/>
            <a:ext cx="19202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Original post +
context fields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053328" y="1719072"/>
            <a:ext cx="2395728" cy="2606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053328" y="1719072"/>
            <a:ext cx="2395728" cy="320040"/>
          </a:xfrm>
          <a:prstGeom prst="rect">
            <a:avLst/>
          </a:prstGeom>
          <a:solidFill>
            <a:srgbClr val="9A5B00"/>
          </a:solidFill>
          <a:ln w="10160">
            <a:solidFill>
              <a:srgbClr val="9A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217920" y="2212848"/>
            <a:ext cx="192024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Follower Impact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217920" y="2651760"/>
            <a:ext cx="2057400" cy="32004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6217920" y="3127248"/>
            <a:ext cx="160020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6217920" y="3529584"/>
            <a:ext cx="192024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217920" y="3977639"/>
            <a:ext cx="19202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Visible narrative vs
delayed path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31520" y="4983480"/>
            <a:ext cx="777240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2454A6"/>
                </a:solidFill>
                <a:latin typeface="Google Sans Flex"/>
              </a:rPr>
              <a:t>Live link: https://signalledger-ai-builder-cup.web.app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Measured on the deployed prototype before submission.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66928" y="1828800"/>
            <a:ext cx="182880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31520" y="2066543"/>
            <a:ext cx="149961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2454A6"/>
                </a:solidFill>
                <a:latin typeface="Google Sans Flex"/>
              </a:rPr>
              <a:t>200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31520" y="267004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Firebase home response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743200" y="1828800"/>
            <a:ext cx="182880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907792" y="2066543"/>
            <a:ext cx="149961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0F766E"/>
                </a:solidFill>
                <a:latin typeface="Google Sans Flex"/>
              </a:rPr>
              <a:t>200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07792" y="267004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Public author feed API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919472" y="1828800"/>
            <a:ext cx="182880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084064" y="2066543"/>
            <a:ext cx="149961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9A5B00"/>
                </a:solidFill>
                <a:latin typeface="Google Sans Flex"/>
              </a:rPr>
              <a:t>200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084064" y="267004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Market snapshot API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095744" y="1828800"/>
            <a:ext cx="182880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260336" y="2066543"/>
            <a:ext cx="149961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B42318"/>
                </a:solidFill>
                <a:latin typeface="Google Sans Flex"/>
              </a:rPr>
              <a:t>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260336" y="267004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Author cards after feed load</a:t>
            </a:r>
          </a:p>
        </p:txBody>
      </p:sp>
      <p:sp>
        <p:nvSpPr>
          <p:cNvPr id="157" name="Oval 156"/>
          <p:cNvSpPr/>
          <p:nvPr/>
        </p:nvSpPr>
        <p:spPr>
          <a:xfrm>
            <a:off x="749808" y="3822191"/>
            <a:ext cx="73152" cy="73152"/>
          </a:xfrm>
          <a:prstGeom prst="ellipse">
            <a:avLst/>
          </a:prstGeom>
          <a:solidFill>
            <a:srgbClr val="2454A6"/>
          </a:solidFill>
          <a:ln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914400" y="3749039"/>
            <a:ext cx="696772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Google Sans Flex"/>
              </a:rPr>
              <a:t>Cloud Run: min 0, max 1, 256 MiB, request-based CPU throttling.</a:t>
            </a:r>
          </a:p>
        </p:txBody>
      </p:sp>
      <p:sp>
        <p:nvSpPr>
          <p:cNvPr id="159" name="Oval 158"/>
          <p:cNvSpPr/>
          <p:nvPr/>
        </p:nvSpPr>
        <p:spPr>
          <a:xfrm>
            <a:off x="749808" y="4261104"/>
            <a:ext cx="73152" cy="73152"/>
          </a:xfrm>
          <a:prstGeom prst="ellipse">
            <a:avLst/>
          </a:prstGeom>
          <a:solidFill>
            <a:srgbClr val="2454A6"/>
          </a:solidFill>
          <a:ln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14400" y="4187952"/>
            <a:ext cx="696772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Google Sans Flex"/>
              </a:rPr>
              <a:t>Public RSS items keep source URLs; unavailable feeds fall back without breaking the app.</a:t>
            </a:r>
          </a:p>
        </p:txBody>
      </p:sp>
      <p:sp>
        <p:nvSpPr>
          <p:cNvPr id="161" name="Oval 160"/>
          <p:cNvSpPr/>
          <p:nvPr/>
        </p:nvSpPr>
        <p:spPr>
          <a:xfrm>
            <a:off x="749808" y="4700016"/>
            <a:ext cx="73152" cy="73152"/>
          </a:xfrm>
          <a:prstGeom prst="ellipse">
            <a:avLst/>
          </a:prstGeom>
          <a:solidFill>
            <a:srgbClr val="2454A6"/>
          </a:solidFill>
          <a:ln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4626864"/>
            <a:ext cx="696772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Google Sans Flex"/>
              </a:rPr>
              <a:t>DOM interaction smoke test: filters, search, profile navigation, and signal detail navigation passed.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The prototype is intentionally narrow; the moat compounds with authorized longitudinal data.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66928" y="1691640"/>
            <a:ext cx="374903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731520" y="1856232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68096" y="1892808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344168" y="1874520"/>
            <a:ext cx="2560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Google Sans Flex"/>
              </a:rPr>
              <a:t>Live Gemini extraction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49808" y="2286000"/>
            <a:ext cx="3291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Google Sans Flex"/>
              </a:rPr>
              <a:t>Enable multimodal text + screenshot extraction when a budget is approved.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818888" y="1691640"/>
            <a:ext cx="374903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4983480" y="1856232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020056" y="1892808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596128" y="1874520"/>
            <a:ext cx="2560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Google Sans Flex"/>
              </a:rPr>
              <a:t>Licensed platform connectors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001768" y="2286000"/>
            <a:ext cx="3291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Google Sans Flex"/>
              </a:rPr>
              <a:t>Add authorized broker/community integrations instead of scraping restricted platforms.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66928" y="3172968"/>
            <a:ext cx="374903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731520" y="3337560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68096" y="3374136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344168" y="3355848"/>
            <a:ext cx="2560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Google Sans Flex"/>
              </a:rPr>
              <a:t>Longitudinal graph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49808" y="3767328"/>
            <a:ext cx="3291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Google Sans Flex"/>
              </a:rPr>
              <a:t>Firestore + BigQuery for author history, corrections, and follower scenarios.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4818888" y="3172968"/>
            <a:ext cx="374903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4983480" y="3337560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020056" y="3374136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96128" y="3355848"/>
            <a:ext cx="2560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Google Sans Flex"/>
              </a:rPr>
              <a:t>User trust controls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001768" y="3767328"/>
            <a:ext cx="3291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Google Sans Flex"/>
              </a:rPr>
              <a:t>Following lists, source confidence, report flow, and transparent appeals.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Provide links to your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All core links are live, including the subtitled demo video.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40080" y="1691640"/>
            <a:ext cx="7863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868680" y="1883664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905256" y="1920240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554480" y="1801368"/>
            <a:ext cx="22402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Google Sans Flex"/>
              </a:rPr>
              <a:t>GitHub Public Repository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840480" y="1801368"/>
            <a:ext cx="429768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54A6"/>
                </a:solidFill>
                <a:latin typeface="Google Sans Flex"/>
              </a:rPr>
              <a:t>https://github.com/vzzzzzzz17/signalledger-ai-builder-cup-2026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40080" y="2624328"/>
            <a:ext cx="7863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868680" y="2816352"/>
            <a:ext cx="438912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05256" y="2852928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02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54480" y="2734056"/>
            <a:ext cx="22402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Google Sans Flex"/>
              </a:rPr>
              <a:t>Demo Video Link (3 Minutes)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840480" y="2734056"/>
            <a:ext cx="429768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9A5B00"/>
                </a:solidFill>
                <a:latin typeface="Google Sans Flex"/>
              </a:rPr>
              <a:t>https://raw.githubusercontent.com/vzzzzzzz17/signalledger-ai-builder-cup-2026/main/SignalLedger-Demo-Video.mp4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640080" y="3557016"/>
            <a:ext cx="7863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868680" y="3749040"/>
            <a:ext cx="438912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905256" y="3785616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03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554480" y="3666744"/>
            <a:ext cx="22402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Google Sans Flex"/>
              </a:rPr>
              <a:t>Final Product Link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840480" y="3666744"/>
            <a:ext cx="429768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Google Sans Flex"/>
              </a:rPr>
              <a:t>https://signalledger-ai-builder-cup.web.app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31520" y="4846320"/>
            <a:ext cx="777240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SignalLedger does not provide investment advice or price predictions.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